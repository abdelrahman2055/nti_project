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1285875" y="842963"/>
            <a:ext cx="3322179" cy="150019"/>
          </a:xfrm>
          <a:prstGeom prst="rect">
            <a:avLst/>
          </a:prstGeom>
          <a:noFill/>
          <a:ln/>
        </p:spPr>
        <p:txBody>
          <a:bodyPr wrap="square" lIns="0" tIns="0" rIns="0" bIns="0" rtlCol="0" anchor="t">
            <a:spAutoFit/>
          </a:bodyPr>
          <a:lstStyle/>
          <a:p>
            <a:pPr algn="l" indent="0" marL="0">
              <a:buNone/>
            </a:pPr>
            <a:r>
              <a:rPr lang="en-US" sz="900" b="1" spc="2" kern="0" dirty="0">
                <a:solidFill>
                  <a:srgbClr val="2563EB"/>
                </a:solidFill>
                <a:latin typeface="Arial" pitchFamily="34" charset="0"/>
                <a:ea typeface="Arial" pitchFamily="34" charset="-122"/>
                <a:cs typeface="Arial" pitchFamily="34" charset="-120"/>
              </a:rPr>
              <a:t>TEAM 3 · EMBEDDED SYSTEMS PROJECT</a:t>
            </a:r>
            <a:endParaRPr lang="en-US" sz="900" dirty="0"/>
          </a:p>
        </p:txBody>
      </p:sp>
      <p:sp>
        <p:nvSpPr>
          <p:cNvPr id="4" name="Text 1"/>
          <p:cNvSpPr/>
          <p:nvPr/>
        </p:nvSpPr>
        <p:spPr>
          <a:xfrm>
            <a:off x="1271588" y="1214438"/>
            <a:ext cx="5000625" cy="894866"/>
          </a:xfrm>
          <a:prstGeom prst="rect">
            <a:avLst/>
          </a:prstGeom>
          <a:noFill/>
          <a:ln/>
        </p:spPr>
        <p:txBody>
          <a:bodyPr wrap="square" lIns="0" tIns="0" rIns="0" bIns="0" rtlCol="0" anchor="t">
            <a:spAutoFit/>
          </a:bodyPr>
          <a:lstStyle/>
          <a:p>
            <a:pPr algn="l" indent="0" marL="0">
              <a:lnSpc>
                <a:spcPct val="86400"/>
              </a:lnSpc>
              <a:buNone/>
            </a:pPr>
            <a:r>
              <a:rPr lang="en-US" sz="3150" dirty="0">
                <a:solidFill>
                  <a:srgbClr val="1E293B"/>
                </a:solidFill>
                <a:latin typeface="Georgia" pitchFamily="34" charset="0"/>
                <a:ea typeface="Georgia" pitchFamily="34" charset="-122"/>
                <a:cs typeface="Georgia" pitchFamily="34" charset="-120"/>
              </a:rPr>
              <a:t>Environmental Monitoring &amp; Data Logging Station</a:t>
            </a:r>
            <a:endParaRPr lang="en-US" sz="3150" dirty="0"/>
          </a:p>
        </p:txBody>
      </p:sp>
      <p:sp>
        <p:nvSpPr>
          <p:cNvPr id="5" name="Text 2"/>
          <p:cNvSpPr/>
          <p:nvPr/>
        </p:nvSpPr>
        <p:spPr>
          <a:xfrm>
            <a:off x="1300163" y="2357438"/>
            <a:ext cx="4000500" cy="707231"/>
          </a:xfrm>
          <a:prstGeom prst="rect">
            <a:avLst/>
          </a:prstGeom>
          <a:noFill/>
          <a:ln/>
        </p:spPr>
        <p:txBody>
          <a:bodyPr wrap="square" lIns="0" tIns="0" rIns="0" bIns="0" rtlCol="0" anchor="t">
            <a:spAutoFit/>
          </a:bodyPr>
          <a:lstStyle/>
          <a:p>
            <a:pPr algn="l" indent="0" marL="0">
              <a:lnSpc>
                <a:spcPct val="120000"/>
              </a:lnSpc>
              <a:buNone/>
            </a:pPr>
            <a:r>
              <a:rPr lang="en-US" sz="1150" dirty="0">
                <a:solidFill>
                  <a:srgbClr val="475569"/>
                </a:solidFill>
                <a:latin typeface="Arial" pitchFamily="34" charset="0"/>
                <a:ea typeface="Arial" pitchFamily="34" charset="-122"/>
                <a:cs typeface="Arial" pitchFamily="34" charset="-120"/>
              </a:rPr>
              <a:t>A practical embedded system for sensing, displaying, </a:t>
            </a:r>
            <a:r>
              <a:rPr lang="en-US" sz="1150" dirty="0">
                <a:solidFill>
                  <a:srgbClr val="475569"/>
                </a:solidFill>
                <a:latin typeface="Arial" pitchFamily="34" charset="0"/>
                <a:ea typeface="Arial" pitchFamily="34" charset="-122"/>
                <a:cs typeface="Arial" pitchFamily="34" charset="-120"/>
              </a:rPr>
              <a:t>storing, and communicating environmental conditions.</a:t>
            </a:r>
            <a:endParaRPr lang="en-US" sz="1150" dirty="0"/>
          </a:p>
        </p:txBody>
      </p:sp>
      <p:sp>
        <p:nvSpPr>
          <p:cNvPr id="6" name="Text 3"/>
          <p:cNvSpPr/>
          <p:nvPr/>
        </p:nvSpPr>
        <p:spPr>
          <a:xfrm>
            <a:off x="1300163" y="4000500"/>
            <a:ext cx="3085374" cy="364331"/>
          </a:xfrm>
          <a:prstGeom prst="rect">
            <a:avLst/>
          </a:prstGeom>
          <a:noFill/>
          <a:ln/>
        </p:spPr>
        <p:txBody>
          <a:bodyPr wrap="square" lIns="0" tIns="0" rIns="0" bIns="0" rtlCol="0" anchor="t">
            <a:spAutoFit/>
          </a:bodyPr>
          <a:lstStyle/>
          <a:p>
            <a:pPr algn="l" indent="0" marL="0">
              <a:lnSpc>
                <a:spcPct val="136000"/>
              </a:lnSpc>
              <a:buNone/>
            </a:pPr>
            <a:r>
              <a:rPr lang="en-US" sz="800" dirty="0">
                <a:solidFill>
                  <a:srgbClr val="64748B"/>
                </a:solidFill>
                <a:latin typeface="Arial" pitchFamily="34" charset="0"/>
                <a:ea typeface="Arial" pitchFamily="34" charset="-122"/>
                <a:cs typeface="Arial" pitchFamily="34" charset="-120"/>
              </a:rPr>
              <a:t>Abdelrahman Mohamed Ibrahim · Abdelrahman Ibrahim adelbary</a:t>
            </a:r>
            <a:r>
              <a:rPr lang="en-US" sz="800" dirty="0">
                <a:solidFill>
                  <a:srgbClr val="64748B"/>
                </a:solidFill>
                <a:latin typeface="Arial" pitchFamily="34" charset="0"/>
                <a:ea typeface="Arial" pitchFamily="34" charset="-122"/>
                <a:cs typeface="Arial" pitchFamily="34" charset="-120"/>
              </a:rPr>
              <a:t>
</a:t>
            </a:r>
            <a:r>
              <a:rPr lang="en-US" sz="800" dirty="0">
                <a:solidFill>
                  <a:srgbClr val="64748B"/>
                </a:solidFill>
                <a:latin typeface="Arial" pitchFamily="34" charset="0"/>
                <a:ea typeface="Arial" pitchFamily="34" charset="-122"/>
                <a:cs typeface="Arial" pitchFamily="34" charset="-120"/>
              </a:rPr>
              <a:t>Youssef mohamed ghait · Mohamed Raafat Hassan</a:t>
            </a:r>
            <a:endParaRPr lang="en-US" sz="800" dirty="0"/>
          </a:p>
        </p:txBody>
      </p:sp>
      <p:sp>
        <p:nvSpPr>
          <p:cNvPr id="7" name="Shape 4"/>
          <p:cNvSpPr/>
          <p:nvPr/>
        </p:nvSpPr>
        <p:spPr>
          <a:xfrm>
            <a:off x="6086475" y="942975"/>
            <a:ext cx="2357438" cy="3071813"/>
          </a:xfrm>
          <a:prstGeom prst="rect">
            <a:avLst/>
          </a:prstGeom>
          <a:solidFill>
            <a:srgbClr val="000000">
              <a:alpha val="0"/>
            </a:srgbClr>
          </a:solidFill>
          <a:ln/>
        </p:spPr>
      </p:sp>
      <p:sp>
        <p:nvSpPr>
          <p:cNvPr id="8" name="Shape 5"/>
          <p:cNvSpPr/>
          <p:nvPr/>
        </p:nvSpPr>
        <p:spPr>
          <a:xfrm>
            <a:off x="6086475" y="942975"/>
            <a:ext cx="2357438" cy="7144"/>
          </a:xfrm>
          <a:prstGeom prst="rect">
            <a:avLst/>
          </a:prstGeom>
          <a:solidFill>
            <a:srgbClr val="CBD5E1"/>
          </a:solidFill>
          <a:ln/>
        </p:spPr>
      </p:sp>
      <p:sp>
        <p:nvSpPr>
          <p:cNvPr id="9" name="Shape 6"/>
          <p:cNvSpPr/>
          <p:nvPr/>
        </p:nvSpPr>
        <p:spPr>
          <a:xfrm>
            <a:off x="6086475" y="942975"/>
            <a:ext cx="7144" cy="3071813"/>
          </a:xfrm>
          <a:prstGeom prst="rect">
            <a:avLst/>
          </a:prstGeom>
          <a:solidFill>
            <a:srgbClr val="CBD5E1"/>
          </a:solidFill>
          <a:ln/>
        </p:spPr>
      </p:sp>
      <p:sp>
        <p:nvSpPr>
          <p:cNvPr id="10" name="Shape 7"/>
          <p:cNvSpPr/>
          <p:nvPr/>
        </p:nvSpPr>
        <p:spPr>
          <a:xfrm>
            <a:off x="6086475" y="1557338"/>
            <a:ext cx="2143125" cy="7144"/>
          </a:xfrm>
          <a:prstGeom prst="rect">
            <a:avLst/>
          </a:prstGeom>
          <a:solidFill>
            <a:srgbClr val="CBD5E1"/>
          </a:solidFill>
          <a:ln/>
        </p:spPr>
      </p:sp>
      <p:sp>
        <p:nvSpPr>
          <p:cNvPr id="11" name="Text 8"/>
          <p:cNvSpPr/>
          <p:nvPr/>
        </p:nvSpPr>
        <p:spPr>
          <a:xfrm>
            <a:off x="5818026" y="4532709"/>
            <a:ext cx="2625886" cy="110728"/>
          </a:xfrm>
          <a:prstGeom prst="rect">
            <a:avLst/>
          </a:prstGeom>
          <a:noFill/>
          <a:ln/>
        </p:spPr>
        <p:txBody>
          <a:bodyPr wrap="square" lIns="0" tIns="0" rIns="0" bIns="0" rtlCol="0" anchor="t">
            <a:spAutoFit/>
          </a:bodyPr>
          <a:lstStyle/>
          <a:p>
            <a:pPr algn="l" indent="0" marL="0">
              <a:buNone/>
            </a:pPr>
            <a:r>
              <a:rPr lang="en-US" sz="650" spc="2" kern="0" dirty="0">
                <a:solidFill>
                  <a:srgbClr val="94A3B8"/>
                </a:solidFill>
                <a:latin typeface="Arial" pitchFamily="34" charset="0"/>
                <a:ea typeface="Arial" pitchFamily="34" charset="-122"/>
                <a:cs typeface="Arial" pitchFamily="34" charset="-120"/>
              </a:rPr>
              <a:t>SENSE · INTERPRET · REMEMBER · RESPOND</a:t>
            </a:r>
            <a:endParaRPr lang="en-US" sz="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1257300" y="457200"/>
            <a:ext cx="1566379" cy="121444"/>
          </a:xfrm>
          <a:prstGeom prst="rect">
            <a:avLst/>
          </a:prstGeom>
          <a:noFill/>
          <a:ln/>
        </p:spPr>
        <p:txBody>
          <a:bodyPr wrap="square" lIns="0" tIns="0" rIns="0" bIns="0" rtlCol="0" anchor="t">
            <a:spAutoFit/>
          </a:bodyPr>
          <a:lstStyle/>
          <a:p>
            <a:pPr algn="l" indent="0" marL="0">
              <a:buNone/>
            </a:pPr>
            <a:r>
              <a:rPr lang="en-US" sz="750" b="1" spc="2" kern="0" dirty="0">
                <a:solidFill>
                  <a:srgbClr val="2563EB"/>
                </a:solidFill>
                <a:latin typeface="Arial" pitchFamily="34" charset="0"/>
                <a:ea typeface="Arial" pitchFamily="34" charset="-122"/>
                <a:cs typeface="Arial" pitchFamily="34" charset="-120"/>
              </a:rPr>
              <a:t>01 / WHY THIS PROJECT</a:t>
            </a:r>
            <a:endParaRPr lang="en-US" sz="750" dirty="0"/>
          </a:p>
        </p:txBody>
      </p:sp>
      <p:sp>
        <p:nvSpPr>
          <p:cNvPr id="4" name="Text 1"/>
          <p:cNvSpPr/>
          <p:nvPr/>
        </p:nvSpPr>
        <p:spPr>
          <a:xfrm>
            <a:off x="1257300" y="800100"/>
            <a:ext cx="3071813" cy="660016"/>
          </a:xfrm>
          <a:prstGeom prst="rect">
            <a:avLst/>
          </a:prstGeom>
          <a:noFill/>
          <a:ln/>
        </p:spPr>
        <p:txBody>
          <a:bodyPr wrap="square" lIns="0" tIns="0" rIns="0" bIns="0" rtlCol="0" anchor="t">
            <a:spAutoFit/>
          </a:bodyPr>
          <a:lstStyle/>
          <a:p>
            <a:pPr algn="l" indent="0" marL="0">
              <a:lnSpc>
                <a:spcPct val="88000"/>
              </a:lnSpc>
              <a:buNone/>
            </a:pPr>
            <a:r>
              <a:rPr lang="en-US" sz="2250" dirty="0">
                <a:solidFill>
                  <a:srgbClr val="1E293B"/>
                </a:solidFill>
                <a:latin typeface="Georgia" pitchFamily="34" charset="0"/>
                <a:ea typeface="Georgia" pitchFamily="34" charset="-122"/>
                <a:cs typeface="Georgia" pitchFamily="34" charset="-120"/>
              </a:rPr>
              <a:t>From raw signals to useful awareness</a:t>
            </a:r>
            <a:endParaRPr lang="en-US" sz="2250" dirty="0"/>
          </a:p>
        </p:txBody>
      </p:sp>
      <p:sp>
        <p:nvSpPr>
          <p:cNvPr id="5" name="Text 2"/>
          <p:cNvSpPr/>
          <p:nvPr/>
        </p:nvSpPr>
        <p:spPr>
          <a:xfrm>
            <a:off x="1271588" y="2085975"/>
            <a:ext cx="2571750" cy="1234306"/>
          </a:xfrm>
          <a:prstGeom prst="rect">
            <a:avLst/>
          </a:prstGeom>
          <a:noFill/>
          <a:ln/>
        </p:spPr>
        <p:txBody>
          <a:bodyPr wrap="square" lIns="0" tIns="0" rIns="0" bIns="0" rtlCol="0" anchor="t">
            <a:spAutoFit/>
          </a:bodyPr>
          <a:lstStyle/>
          <a:p>
            <a:pPr algn="l" indent="0" marL="0">
              <a:lnSpc>
                <a:spcPct val="128000"/>
              </a:lnSpc>
              <a:buNone/>
            </a:pPr>
            <a:r>
              <a:rPr lang="en-US" sz="950" dirty="0">
                <a:solidFill>
                  <a:srgbClr val="475569"/>
                </a:solidFill>
                <a:latin typeface="Arial" pitchFamily="34" charset="0"/>
                <a:ea typeface="Arial" pitchFamily="34" charset="-122"/>
                <a:cs typeface="Arial" pitchFamily="34" charset="-120"/>
              </a:rPr>
              <a:t>Environmental conditions change continuously, but raw sensor signals are difficult to interpret on their own. Our system turns temperature and light measurements into clear local status, persistent records, and immediate alerts.</a:t>
            </a:r>
            <a:endParaRPr lang="en-US" sz="950" dirty="0"/>
          </a:p>
        </p:txBody>
      </p:sp>
      <p:sp>
        <p:nvSpPr>
          <p:cNvPr id="6" name="Shape 3"/>
          <p:cNvSpPr/>
          <p:nvPr/>
        </p:nvSpPr>
        <p:spPr>
          <a:xfrm>
            <a:off x="4557713" y="1264444"/>
            <a:ext cx="142875" cy="14288"/>
          </a:xfrm>
          <a:prstGeom prst="rect">
            <a:avLst/>
          </a:prstGeom>
          <a:solidFill>
            <a:srgbClr val="2563EB"/>
          </a:solidFill>
          <a:ln/>
        </p:spPr>
      </p:sp>
      <p:sp>
        <p:nvSpPr>
          <p:cNvPr id="7" name="Text 4"/>
          <p:cNvSpPr/>
          <p:nvPr/>
        </p:nvSpPr>
        <p:spPr>
          <a:xfrm>
            <a:off x="4429125" y="1585913"/>
            <a:ext cx="1571625" cy="210741"/>
          </a:xfrm>
          <a:prstGeom prst="rect">
            <a:avLst/>
          </a:prstGeom>
          <a:noFill/>
          <a:ln/>
        </p:spPr>
        <p:txBody>
          <a:bodyPr wrap="square" lIns="0" tIns="0" rIns="0" bIns="0" rtlCol="0" anchor="t">
            <a:spAutoFit/>
          </a:bodyPr>
          <a:lstStyle/>
          <a:p>
            <a:pPr algn="l" indent="0" marL="0">
              <a:buNone/>
            </a:pPr>
            <a:r>
              <a:rPr lang="en-US" sz="1400" dirty="0">
                <a:solidFill>
                  <a:srgbClr val="1E293B"/>
                </a:solidFill>
                <a:latin typeface="Georgia" pitchFamily="34" charset="0"/>
                <a:ea typeface="Georgia" pitchFamily="34" charset="-122"/>
                <a:cs typeface="Georgia" pitchFamily="34" charset="-120"/>
              </a:rPr>
              <a:t>Sense</a:t>
            </a:r>
            <a:endParaRPr lang="en-US" sz="1400" dirty="0"/>
          </a:p>
        </p:txBody>
      </p:sp>
      <p:sp>
        <p:nvSpPr>
          <p:cNvPr id="8" name="Text 5"/>
          <p:cNvSpPr/>
          <p:nvPr/>
        </p:nvSpPr>
        <p:spPr>
          <a:xfrm>
            <a:off x="4429125" y="1896666"/>
            <a:ext cx="1571625" cy="354285"/>
          </a:xfrm>
          <a:prstGeom prst="rect">
            <a:avLst/>
          </a:prstGeom>
          <a:noFill/>
          <a:ln/>
        </p:spPr>
        <p:txBody>
          <a:bodyPr wrap="square" lIns="0" tIns="0" rIns="0" bIns="0" rtlCol="0" anchor="t">
            <a:spAutoFit/>
          </a:bodyPr>
          <a:lstStyle/>
          <a:p>
            <a:pPr algn="l" indent="0" marL="0">
              <a:lnSpc>
                <a:spcPct val="124000"/>
              </a:lnSpc>
              <a:buNone/>
            </a:pPr>
            <a:r>
              <a:rPr lang="en-US" sz="850" dirty="0">
                <a:solidFill>
                  <a:srgbClr val="475569"/>
                </a:solidFill>
                <a:latin typeface="Arial" pitchFamily="34" charset="0"/>
                <a:ea typeface="Arial" pitchFamily="34" charset="-122"/>
                <a:cs typeface="Arial" pitchFamily="34" charset="-120"/>
              </a:rPr>
              <a:t>Capture environmental inputs through dedicated sensors.</a:t>
            </a:r>
            <a:endParaRPr lang="en-US" sz="850" dirty="0"/>
          </a:p>
        </p:txBody>
      </p:sp>
      <p:sp>
        <p:nvSpPr>
          <p:cNvPr id="9" name="Shape 6"/>
          <p:cNvSpPr/>
          <p:nvPr/>
        </p:nvSpPr>
        <p:spPr>
          <a:xfrm>
            <a:off x="6486525" y="2064544"/>
            <a:ext cx="142875" cy="14288"/>
          </a:xfrm>
          <a:prstGeom prst="rect">
            <a:avLst/>
          </a:prstGeom>
          <a:solidFill>
            <a:srgbClr val="2563EB"/>
          </a:solidFill>
          <a:ln/>
        </p:spPr>
      </p:sp>
      <p:sp>
        <p:nvSpPr>
          <p:cNvPr id="10" name="Text 7"/>
          <p:cNvSpPr/>
          <p:nvPr/>
        </p:nvSpPr>
        <p:spPr>
          <a:xfrm>
            <a:off x="6357938" y="2386013"/>
            <a:ext cx="1571625" cy="210741"/>
          </a:xfrm>
          <a:prstGeom prst="rect">
            <a:avLst/>
          </a:prstGeom>
          <a:noFill/>
          <a:ln/>
        </p:spPr>
        <p:txBody>
          <a:bodyPr wrap="square" lIns="0" tIns="0" rIns="0" bIns="0" rtlCol="0" anchor="t">
            <a:spAutoFit/>
          </a:bodyPr>
          <a:lstStyle/>
          <a:p>
            <a:pPr algn="l" indent="0" marL="0">
              <a:buNone/>
            </a:pPr>
            <a:r>
              <a:rPr lang="en-US" sz="1400" dirty="0">
                <a:solidFill>
                  <a:srgbClr val="1E293B"/>
                </a:solidFill>
                <a:latin typeface="Georgia" pitchFamily="34" charset="0"/>
                <a:ea typeface="Georgia" pitchFamily="34" charset="-122"/>
                <a:cs typeface="Georgia" pitchFamily="34" charset="-120"/>
              </a:rPr>
              <a:t>Interpret</a:t>
            </a:r>
            <a:endParaRPr lang="en-US" sz="1400" dirty="0"/>
          </a:p>
        </p:txBody>
      </p:sp>
      <p:sp>
        <p:nvSpPr>
          <p:cNvPr id="11" name="Text 8"/>
          <p:cNvSpPr/>
          <p:nvPr/>
        </p:nvSpPr>
        <p:spPr>
          <a:xfrm>
            <a:off x="6357938" y="2696766"/>
            <a:ext cx="1571625" cy="354285"/>
          </a:xfrm>
          <a:prstGeom prst="rect">
            <a:avLst/>
          </a:prstGeom>
          <a:noFill/>
          <a:ln/>
        </p:spPr>
        <p:txBody>
          <a:bodyPr wrap="square" lIns="0" tIns="0" rIns="0" bIns="0" rtlCol="0" anchor="t">
            <a:spAutoFit/>
          </a:bodyPr>
          <a:lstStyle/>
          <a:p>
            <a:pPr algn="l" indent="0" marL="0">
              <a:lnSpc>
                <a:spcPct val="124000"/>
              </a:lnSpc>
              <a:buNone/>
            </a:pPr>
            <a:r>
              <a:rPr lang="en-US" sz="850" dirty="0">
                <a:solidFill>
                  <a:srgbClr val="475569"/>
                </a:solidFill>
                <a:latin typeface="Arial" pitchFamily="34" charset="0"/>
                <a:ea typeface="Arial" pitchFamily="34" charset="-122"/>
                <a:cs typeface="Arial" pitchFamily="34" charset="-120"/>
              </a:rPr>
              <a:t>Convert signals into readable status and threshold decisions.</a:t>
            </a:r>
            <a:endParaRPr lang="en-US" sz="850" dirty="0"/>
          </a:p>
        </p:txBody>
      </p:sp>
      <p:sp>
        <p:nvSpPr>
          <p:cNvPr id="12" name="Shape 9"/>
          <p:cNvSpPr/>
          <p:nvPr/>
        </p:nvSpPr>
        <p:spPr>
          <a:xfrm>
            <a:off x="4557713" y="3050381"/>
            <a:ext cx="142875" cy="14288"/>
          </a:xfrm>
          <a:prstGeom prst="rect">
            <a:avLst/>
          </a:prstGeom>
          <a:solidFill>
            <a:srgbClr val="2563EB"/>
          </a:solidFill>
          <a:ln/>
        </p:spPr>
      </p:sp>
      <p:sp>
        <p:nvSpPr>
          <p:cNvPr id="13" name="Text 10"/>
          <p:cNvSpPr/>
          <p:nvPr/>
        </p:nvSpPr>
        <p:spPr>
          <a:xfrm>
            <a:off x="4429125" y="3371850"/>
            <a:ext cx="1571625" cy="210741"/>
          </a:xfrm>
          <a:prstGeom prst="rect">
            <a:avLst/>
          </a:prstGeom>
          <a:noFill/>
          <a:ln/>
        </p:spPr>
        <p:txBody>
          <a:bodyPr wrap="square" lIns="0" tIns="0" rIns="0" bIns="0" rtlCol="0" anchor="t">
            <a:spAutoFit/>
          </a:bodyPr>
          <a:lstStyle/>
          <a:p>
            <a:pPr algn="l" indent="0" marL="0">
              <a:buNone/>
            </a:pPr>
            <a:r>
              <a:rPr lang="en-US" sz="1400" dirty="0">
                <a:solidFill>
                  <a:srgbClr val="1E293B"/>
                </a:solidFill>
                <a:latin typeface="Georgia" pitchFamily="34" charset="0"/>
                <a:ea typeface="Georgia" pitchFamily="34" charset="-122"/>
                <a:cs typeface="Georgia" pitchFamily="34" charset="-120"/>
              </a:rPr>
              <a:t>Act</a:t>
            </a:r>
            <a:endParaRPr lang="en-US" sz="1400" dirty="0"/>
          </a:p>
        </p:txBody>
      </p:sp>
      <p:sp>
        <p:nvSpPr>
          <p:cNvPr id="14" name="Text 11"/>
          <p:cNvSpPr/>
          <p:nvPr/>
        </p:nvSpPr>
        <p:spPr>
          <a:xfrm>
            <a:off x="4429125" y="3682603"/>
            <a:ext cx="1571625" cy="354285"/>
          </a:xfrm>
          <a:prstGeom prst="rect">
            <a:avLst/>
          </a:prstGeom>
          <a:noFill/>
          <a:ln/>
        </p:spPr>
        <p:txBody>
          <a:bodyPr wrap="square" lIns="0" tIns="0" rIns="0" bIns="0" rtlCol="0" anchor="t">
            <a:spAutoFit/>
          </a:bodyPr>
          <a:lstStyle/>
          <a:p>
            <a:pPr algn="l" indent="0" marL="0">
              <a:lnSpc>
                <a:spcPct val="124000"/>
              </a:lnSpc>
              <a:buNone/>
            </a:pPr>
            <a:r>
              <a:rPr lang="en-US" sz="850" dirty="0">
                <a:solidFill>
                  <a:srgbClr val="475569"/>
                </a:solidFill>
                <a:latin typeface="Arial" pitchFamily="34" charset="0"/>
                <a:ea typeface="Arial" pitchFamily="34" charset="-122"/>
                <a:cs typeface="Arial" pitchFamily="34" charset="-120"/>
              </a:rPr>
              <a:t>Display, store, alert, and communicate the result.</a:t>
            </a:r>
            <a:endParaRPr lang="en-US" sz="850" dirty="0"/>
          </a:p>
        </p:txBody>
      </p:sp>
      <p:sp>
        <p:nvSpPr>
          <p:cNvPr id="15" name="Text 12"/>
          <p:cNvSpPr/>
          <p:nvPr/>
        </p:nvSpPr>
        <p:spPr>
          <a:xfrm>
            <a:off x="6350012" y="4546997"/>
            <a:ext cx="2193913" cy="110728"/>
          </a:xfrm>
          <a:prstGeom prst="rect">
            <a:avLst/>
          </a:prstGeom>
          <a:noFill/>
          <a:ln/>
        </p:spPr>
        <p:txBody>
          <a:bodyPr wrap="square" lIns="0" tIns="0" rIns="0" bIns="0" rtlCol="0" anchor="t">
            <a:spAutoFit/>
          </a:bodyPr>
          <a:lstStyle/>
          <a:p>
            <a:pPr algn="l" indent="0" marL="0">
              <a:buNone/>
            </a:pPr>
            <a:r>
              <a:rPr lang="en-US" sz="650" spc="2" kern="0" dirty="0">
                <a:solidFill>
                  <a:srgbClr val="94A3B8"/>
                </a:solidFill>
                <a:latin typeface="Arial" pitchFamily="34" charset="0"/>
                <a:ea typeface="Arial" pitchFamily="34" charset="-122"/>
                <a:cs typeface="Arial" pitchFamily="34" charset="-120"/>
              </a:rPr>
              <a:t>MAKE THE INFORMATION ACTIONABLE</a:t>
            </a:r>
            <a:endParaRPr lang="en-US" sz="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1257300" y="428625"/>
            <a:ext cx="2244421" cy="121444"/>
          </a:xfrm>
          <a:prstGeom prst="rect">
            <a:avLst/>
          </a:prstGeom>
          <a:noFill/>
          <a:ln/>
        </p:spPr>
        <p:txBody>
          <a:bodyPr wrap="square" lIns="0" tIns="0" rIns="0" bIns="0" rtlCol="0" anchor="t">
            <a:spAutoFit/>
          </a:bodyPr>
          <a:lstStyle/>
          <a:p>
            <a:pPr algn="l" indent="0" marL="0">
              <a:buNone/>
            </a:pPr>
            <a:r>
              <a:rPr lang="en-US" sz="750" b="1" spc="2" kern="0" dirty="0">
                <a:solidFill>
                  <a:srgbClr val="2563EB"/>
                </a:solidFill>
                <a:latin typeface="Arial" pitchFamily="34" charset="0"/>
                <a:ea typeface="Arial" pitchFamily="34" charset="-122"/>
                <a:cs typeface="Arial" pitchFamily="34" charset="-120"/>
              </a:rPr>
              <a:t>02 / WHAT THE STATION DELIVERS</a:t>
            </a:r>
            <a:endParaRPr lang="en-US" sz="750" dirty="0"/>
          </a:p>
        </p:txBody>
      </p:sp>
      <p:sp>
        <p:nvSpPr>
          <p:cNvPr id="4" name="Text 1"/>
          <p:cNvSpPr/>
          <p:nvPr/>
        </p:nvSpPr>
        <p:spPr>
          <a:xfrm>
            <a:off x="1257300" y="757238"/>
            <a:ext cx="5000625" cy="657225"/>
          </a:xfrm>
          <a:prstGeom prst="rect">
            <a:avLst/>
          </a:prstGeom>
          <a:noFill/>
          <a:ln/>
        </p:spPr>
        <p:txBody>
          <a:bodyPr wrap="square" lIns="0" tIns="0" rIns="0" bIns="0" rtlCol="0" anchor="t">
            <a:spAutoFit/>
          </a:bodyPr>
          <a:lstStyle/>
          <a:p>
            <a:pPr algn="l" indent="0" marL="0">
              <a:lnSpc>
                <a:spcPct val="92000"/>
              </a:lnSpc>
              <a:buNone/>
            </a:pPr>
            <a:r>
              <a:rPr lang="en-US" sz="2150" dirty="0">
                <a:solidFill>
                  <a:srgbClr val="1E293B"/>
                </a:solidFill>
                <a:latin typeface="Georgia" pitchFamily="34" charset="0"/>
                <a:ea typeface="Georgia" pitchFamily="34" charset="-122"/>
                <a:cs typeface="Georgia" pitchFamily="34" charset="-120"/>
              </a:rPr>
              <a:t>One compact station, four practical outcomes</a:t>
            </a:r>
            <a:endParaRPr lang="en-US" sz="2150" dirty="0"/>
          </a:p>
        </p:txBody>
      </p:sp>
      <p:sp>
        <p:nvSpPr>
          <p:cNvPr id="5" name="Text 2"/>
          <p:cNvSpPr/>
          <p:nvPr/>
        </p:nvSpPr>
        <p:spPr>
          <a:xfrm>
            <a:off x="6700838" y="828675"/>
            <a:ext cx="1785938" cy="514350"/>
          </a:xfrm>
          <a:prstGeom prst="rect">
            <a:avLst/>
          </a:prstGeom>
          <a:noFill/>
          <a:ln/>
        </p:spPr>
        <p:txBody>
          <a:bodyPr wrap="square" lIns="0" tIns="0" rIns="0" bIns="0" rtlCol="0" anchor="t">
            <a:spAutoFit/>
          </a:bodyPr>
          <a:lstStyle/>
          <a:p>
            <a:pPr algn="l" indent="0" marL="0">
              <a:lnSpc>
                <a:spcPct val="120000"/>
              </a:lnSpc>
              <a:buNone/>
            </a:pPr>
            <a:r>
              <a:rPr lang="en-US" sz="850" dirty="0">
                <a:solidFill>
                  <a:srgbClr val="64748B"/>
                </a:solidFill>
                <a:latin typeface="Arial" pitchFamily="34" charset="0"/>
                <a:ea typeface="Arial" pitchFamily="34" charset="-122"/>
                <a:cs typeface="Arial" pitchFamily="34" charset="-120"/>
              </a:rPr>
              <a:t>The project is more than a sensor circuit. It is a small, complete monitoring workflow.</a:t>
            </a:r>
            <a:endParaRPr lang="en-US" sz="850" dirty="0"/>
          </a:p>
        </p:txBody>
      </p:sp>
      <p:sp>
        <p:nvSpPr>
          <p:cNvPr id="6" name="Text 3"/>
          <p:cNvSpPr/>
          <p:nvPr/>
        </p:nvSpPr>
        <p:spPr>
          <a:xfrm>
            <a:off x="1257300" y="2071688"/>
            <a:ext cx="1464469" cy="378619"/>
          </a:xfrm>
          <a:prstGeom prst="rect">
            <a:avLst/>
          </a:prstGeom>
          <a:noFill/>
          <a:ln/>
        </p:spPr>
        <p:txBody>
          <a:bodyPr wrap="square" lIns="0" tIns="0" rIns="0" bIns="0" rtlCol="0" anchor="t">
            <a:spAutoFit/>
          </a:bodyPr>
          <a:lstStyle/>
          <a:p>
            <a:pPr algn="l" indent="0" marL="0">
              <a:buNone/>
            </a:pPr>
            <a:r>
              <a:rPr lang="en-US" sz="2500" dirty="0">
                <a:solidFill>
                  <a:srgbClr val="2563EB"/>
                </a:solidFill>
                <a:latin typeface="Georgia" pitchFamily="34" charset="0"/>
                <a:ea typeface="Georgia" pitchFamily="34" charset="-122"/>
                <a:cs typeface="Georgia" pitchFamily="34" charset="-120"/>
              </a:rPr>
              <a:t>A</a:t>
            </a:r>
            <a:endParaRPr lang="en-US" sz="2500" dirty="0"/>
          </a:p>
        </p:txBody>
      </p:sp>
      <p:sp>
        <p:nvSpPr>
          <p:cNvPr id="7" name="Text 4"/>
          <p:cNvSpPr/>
          <p:nvPr/>
        </p:nvSpPr>
        <p:spPr>
          <a:xfrm>
            <a:off x="1257300" y="2607469"/>
            <a:ext cx="1464469" cy="239316"/>
          </a:xfrm>
          <a:prstGeom prst="rect">
            <a:avLst/>
          </a:prstGeom>
          <a:noFill/>
          <a:ln/>
        </p:spPr>
        <p:txBody>
          <a:bodyPr wrap="square" lIns="0" tIns="0" rIns="0" bIns="0" rtlCol="0" anchor="t">
            <a:spAutoFit/>
          </a:bodyPr>
          <a:lstStyle/>
          <a:p>
            <a:pPr algn="l" indent="0" marL="0">
              <a:buNone/>
            </a:pPr>
            <a:r>
              <a:rPr lang="en-US" sz="1550" dirty="0">
                <a:solidFill>
                  <a:srgbClr val="1E293B"/>
                </a:solidFill>
                <a:latin typeface="Georgia" pitchFamily="34" charset="0"/>
                <a:ea typeface="Georgia" pitchFamily="34" charset="-122"/>
                <a:cs typeface="Georgia" pitchFamily="34" charset="-120"/>
              </a:rPr>
              <a:t>Sense</a:t>
            </a:r>
            <a:endParaRPr lang="en-US" sz="1550" dirty="0"/>
          </a:p>
        </p:txBody>
      </p:sp>
      <p:sp>
        <p:nvSpPr>
          <p:cNvPr id="8" name="Text 5"/>
          <p:cNvSpPr/>
          <p:nvPr/>
        </p:nvSpPr>
        <p:spPr>
          <a:xfrm>
            <a:off x="1257300" y="2946797"/>
            <a:ext cx="1464469" cy="531428"/>
          </a:xfrm>
          <a:prstGeom prst="rect">
            <a:avLst/>
          </a:prstGeom>
          <a:noFill/>
          <a:ln/>
        </p:spPr>
        <p:txBody>
          <a:bodyPr wrap="square" lIns="0" tIns="0" rIns="0" bIns="0" rtlCol="0" anchor="t">
            <a:spAutoFit/>
          </a:bodyPr>
          <a:lstStyle/>
          <a:p>
            <a:pPr algn="l" indent="0" marL="0">
              <a:lnSpc>
                <a:spcPct val="124000"/>
              </a:lnSpc>
              <a:buNone/>
            </a:pPr>
            <a:r>
              <a:rPr lang="en-US" sz="850" dirty="0">
                <a:solidFill>
                  <a:srgbClr val="475569"/>
                </a:solidFill>
                <a:latin typeface="Arial" pitchFamily="34" charset="0"/>
                <a:ea typeface="Arial" pitchFamily="34" charset="-122"/>
                <a:cs typeface="Arial" pitchFamily="34" charset="-120"/>
              </a:rPr>
              <a:t>Capture temperature and light through dedicated analog inputs.</a:t>
            </a:r>
            <a:endParaRPr lang="en-US" sz="850" dirty="0"/>
          </a:p>
        </p:txBody>
      </p:sp>
      <p:sp>
        <p:nvSpPr>
          <p:cNvPr id="9" name="Text 6"/>
          <p:cNvSpPr/>
          <p:nvPr/>
        </p:nvSpPr>
        <p:spPr>
          <a:xfrm>
            <a:off x="3000375" y="2071688"/>
            <a:ext cx="1464469" cy="378619"/>
          </a:xfrm>
          <a:prstGeom prst="rect">
            <a:avLst/>
          </a:prstGeom>
          <a:noFill/>
          <a:ln/>
        </p:spPr>
        <p:txBody>
          <a:bodyPr wrap="square" lIns="0" tIns="0" rIns="0" bIns="0" rtlCol="0" anchor="t">
            <a:spAutoFit/>
          </a:bodyPr>
          <a:lstStyle/>
          <a:p>
            <a:pPr algn="l" indent="0" marL="0">
              <a:buNone/>
            </a:pPr>
            <a:r>
              <a:rPr lang="en-US" sz="2500" dirty="0">
                <a:solidFill>
                  <a:srgbClr val="2563EB"/>
                </a:solidFill>
                <a:latin typeface="Georgia" pitchFamily="34" charset="0"/>
                <a:ea typeface="Georgia" pitchFamily="34" charset="-122"/>
                <a:cs typeface="Georgia" pitchFamily="34" charset="-120"/>
              </a:rPr>
              <a:t>B</a:t>
            </a:r>
            <a:endParaRPr lang="en-US" sz="2500" dirty="0"/>
          </a:p>
        </p:txBody>
      </p:sp>
      <p:sp>
        <p:nvSpPr>
          <p:cNvPr id="10" name="Text 7"/>
          <p:cNvSpPr/>
          <p:nvPr/>
        </p:nvSpPr>
        <p:spPr>
          <a:xfrm>
            <a:off x="3000375" y="2607469"/>
            <a:ext cx="1464469" cy="239316"/>
          </a:xfrm>
          <a:prstGeom prst="rect">
            <a:avLst/>
          </a:prstGeom>
          <a:noFill/>
          <a:ln/>
        </p:spPr>
        <p:txBody>
          <a:bodyPr wrap="square" lIns="0" tIns="0" rIns="0" bIns="0" rtlCol="0" anchor="t">
            <a:spAutoFit/>
          </a:bodyPr>
          <a:lstStyle/>
          <a:p>
            <a:pPr algn="l" indent="0" marL="0">
              <a:buNone/>
            </a:pPr>
            <a:r>
              <a:rPr lang="en-US" sz="1550" dirty="0">
                <a:solidFill>
                  <a:srgbClr val="1E293B"/>
                </a:solidFill>
                <a:latin typeface="Georgia" pitchFamily="34" charset="0"/>
                <a:ea typeface="Georgia" pitchFamily="34" charset="-122"/>
                <a:cs typeface="Georgia" pitchFamily="34" charset="-120"/>
              </a:rPr>
              <a:t>Understand</a:t>
            </a:r>
            <a:endParaRPr lang="en-US" sz="1550" dirty="0"/>
          </a:p>
        </p:txBody>
      </p:sp>
      <p:sp>
        <p:nvSpPr>
          <p:cNvPr id="11" name="Text 8"/>
          <p:cNvSpPr/>
          <p:nvPr/>
        </p:nvSpPr>
        <p:spPr>
          <a:xfrm>
            <a:off x="3000375" y="2946797"/>
            <a:ext cx="1464469" cy="531428"/>
          </a:xfrm>
          <a:prstGeom prst="rect">
            <a:avLst/>
          </a:prstGeom>
          <a:noFill/>
          <a:ln/>
        </p:spPr>
        <p:txBody>
          <a:bodyPr wrap="square" lIns="0" tIns="0" rIns="0" bIns="0" rtlCol="0" anchor="t">
            <a:spAutoFit/>
          </a:bodyPr>
          <a:lstStyle/>
          <a:p>
            <a:pPr algn="l" indent="0" marL="0">
              <a:lnSpc>
                <a:spcPct val="124000"/>
              </a:lnSpc>
              <a:buNone/>
            </a:pPr>
            <a:r>
              <a:rPr lang="en-US" sz="850" dirty="0">
                <a:solidFill>
                  <a:srgbClr val="475569"/>
                </a:solidFill>
                <a:latin typeface="Arial" pitchFamily="34" charset="0"/>
                <a:ea typeface="Arial" pitchFamily="34" charset="-122"/>
                <a:cs typeface="Arial" pitchFamily="34" charset="-120"/>
              </a:rPr>
              <a:t>Translate measurements into a clear local status on the LCD.</a:t>
            </a:r>
            <a:endParaRPr lang="en-US" sz="850" dirty="0"/>
          </a:p>
        </p:txBody>
      </p:sp>
      <p:sp>
        <p:nvSpPr>
          <p:cNvPr id="12" name="Text 9"/>
          <p:cNvSpPr/>
          <p:nvPr/>
        </p:nvSpPr>
        <p:spPr>
          <a:xfrm>
            <a:off x="4743450" y="2071688"/>
            <a:ext cx="1464469" cy="378619"/>
          </a:xfrm>
          <a:prstGeom prst="rect">
            <a:avLst/>
          </a:prstGeom>
          <a:noFill/>
          <a:ln/>
        </p:spPr>
        <p:txBody>
          <a:bodyPr wrap="square" lIns="0" tIns="0" rIns="0" bIns="0" rtlCol="0" anchor="t">
            <a:spAutoFit/>
          </a:bodyPr>
          <a:lstStyle/>
          <a:p>
            <a:pPr algn="l" indent="0" marL="0">
              <a:buNone/>
            </a:pPr>
            <a:r>
              <a:rPr lang="en-US" sz="2500" dirty="0">
                <a:solidFill>
                  <a:srgbClr val="2563EB"/>
                </a:solidFill>
                <a:latin typeface="Georgia" pitchFamily="34" charset="0"/>
                <a:ea typeface="Georgia" pitchFamily="34" charset="-122"/>
                <a:cs typeface="Georgia" pitchFamily="34" charset="-120"/>
              </a:rPr>
              <a:t>C</a:t>
            </a:r>
            <a:endParaRPr lang="en-US" sz="2500" dirty="0"/>
          </a:p>
        </p:txBody>
      </p:sp>
      <p:sp>
        <p:nvSpPr>
          <p:cNvPr id="13" name="Text 10"/>
          <p:cNvSpPr/>
          <p:nvPr/>
        </p:nvSpPr>
        <p:spPr>
          <a:xfrm>
            <a:off x="4743450" y="2607469"/>
            <a:ext cx="1464469" cy="239316"/>
          </a:xfrm>
          <a:prstGeom prst="rect">
            <a:avLst/>
          </a:prstGeom>
          <a:noFill/>
          <a:ln/>
        </p:spPr>
        <p:txBody>
          <a:bodyPr wrap="square" lIns="0" tIns="0" rIns="0" bIns="0" rtlCol="0" anchor="t">
            <a:spAutoFit/>
          </a:bodyPr>
          <a:lstStyle/>
          <a:p>
            <a:pPr algn="l" indent="0" marL="0">
              <a:buNone/>
            </a:pPr>
            <a:r>
              <a:rPr lang="en-US" sz="1550" dirty="0">
                <a:solidFill>
                  <a:srgbClr val="1E293B"/>
                </a:solidFill>
                <a:latin typeface="Georgia" pitchFamily="34" charset="0"/>
                <a:ea typeface="Georgia" pitchFamily="34" charset="-122"/>
                <a:cs typeface="Georgia" pitchFamily="34" charset="-120"/>
              </a:rPr>
              <a:t>Remember</a:t>
            </a:r>
            <a:endParaRPr lang="en-US" sz="1550" dirty="0"/>
          </a:p>
        </p:txBody>
      </p:sp>
      <p:sp>
        <p:nvSpPr>
          <p:cNvPr id="14" name="Text 11"/>
          <p:cNvSpPr/>
          <p:nvPr/>
        </p:nvSpPr>
        <p:spPr>
          <a:xfrm>
            <a:off x="4743450" y="2946797"/>
            <a:ext cx="1464469" cy="531428"/>
          </a:xfrm>
          <a:prstGeom prst="rect">
            <a:avLst/>
          </a:prstGeom>
          <a:noFill/>
          <a:ln/>
        </p:spPr>
        <p:txBody>
          <a:bodyPr wrap="square" lIns="0" tIns="0" rIns="0" bIns="0" rtlCol="0" anchor="t">
            <a:spAutoFit/>
          </a:bodyPr>
          <a:lstStyle/>
          <a:p>
            <a:pPr algn="l" indent="0" marL="0">
              <a:lnSpc>
                <a:spcPct val="124000"/>
              </a:lnSpc>
              <a:buNone/>
            </a:pPr>
            <a:r>
              <a:rPr lang="en-US" sz="850" dirty="0">
                <a:solidFill>
                  <a:srgbClr val="475569"/>
                </a:solidFill>
                <a:latin typeface="Arial" pitchFamily="34" charset="0"/>
                <a:ea typeface="Arial" pitchFamily="34" charset="-122"/>
                <a:cs typeface="Arial" pitchFamily="34" charset="-120"/>
              </a:rPr>
              <a:t>Preserve periodic readings in EEPROM for later retrieval.</a:t>
            </a:r>
            <a:endParaRPr lang="en-US" sz="850" dirty="0"/>
          </a:p>
        </p:txBody>
      </p:sp>
      <p:sp>
        <p:nvSpPr>
          <p:cNvPr id="15" name="Text 12"/>
          <p:cNvSpPr/>
          <p:nvPr/>
        </p:nvSpPr>
        <p:spPr>
          <a:xfrm>
            <a:off x="6486525" y="2071688"/>
            <a:ext cx="1464469" cy="378619"/>
          </a:xfrm>
          <a:prstGeom prst="rect">
            <a:avLst/>
          </a:prstGeom>
          <a:noFill/>
          <a:ln/>
        </p:spPr>
        <p:txBody>
          <a:bodyPr wrap="square" lIns="0" tIns="0" rIns="0" bIns="0" rtlCol="0" anchor="t">
            <a:spAutoFit/>
          </a:bodyPr>
          <a:lstStyle/>
          <a:p>
            <a:pPr algn="l" indent="0" marL="0">
              <a:buNone/>
            </a:pPr>
            <a:r>
              <a:rPr lang="en-US" sz="2500" dirty="0">
                <a:solidFill>
                  <a:srgbClr val="2563EB"/>
                </a:solidFill>
                <a:latin typeface="Georgia" pitchFamily="34" charset="0"/>
                <a:ea typeface="Georgia" pitchFamily="34" charset="-122"/>
                <a:cs typeface="Georgia" pitchFamily="34" charset="-120"/>
              </a:rPr>
              <a:t>D</a:t>
            </a:r>
            <a:endParaRPr lang="en-US" sz="2500" dirty="0"/>
          </a:p>
        </p:txBody>
      </p:sp>
      <p:sp>
        <p:nvSpPr>
          <p:cNvPr id="16" name="Text 13"/>
          <p:cNvSpPr/>
          <p:nvPr/>
        </p:nvSpPr>
        <p:spPr>
          <a:xfrm>
            <a:off x="6486525" y="2607469"/>
            <a:ext cx="1464469" cy="239316"/>
          </a:xfrm>
          <a:prstGeom prst="rect">
            <a:avLst/>
          </a:prstGeom>
          <a:noFill/>
          <a:ln/>
        </p:spPr>
        <p:txBody>
          <a:bodyPr wrap="square" lIns="0" tIns="0" rIns="0" bIns="0" rtlCol="0" anchor="t">
            <a:spAutoFit/>
          </a:bodyPr>
          <a:lstStyle/>
          <a:p>
            <a:pPr algn="l" indent="0" marL="0">
              <a:buNone/>
            </a:pPr>
            <a:r>
              <a:rPr lang="en-US" sz="1550" dirty="0">
                <a:solidFill>
                  <a:srgbClr val="1E293B"/>
                </a:solidFill>
                <a:latin typeface="Georgia" pitchFamily="34" charset="0"/>
                <a:ea typeface="Georgia" pitchFamily="34" charset="-122"/>
                <a:cs typeface="Georgia" pitchFamily="34" charset="-120"/>
              </a:rPr>
              <a:t>Respond</a:t>
            </a:r>
            <a:endParaRPr lang="en-US" sz="1550" dirty="0"/>
          </a:p>
        </p:txBody>
      </p:sp>
      <p:sp>
        <p:nvSpPr>
          <p:cNvPr id="17" name="Text 14"/>
          <p:cNvSpPr/>
          <p:nvPr/>
        </p:nvSpPr>
        <p:spPr>
          <a:xfrm>
            <a:off x="6486525" y="2946797"/>
            <a:ext cx="1464469" cy="531428"/>
          </a:xfrm>
          <a:prstGeom prst="rect">
            <a:avLst/>
          </a:prstGeom>
          <a:noFill/>
          <a:ln/>
        </p:spPr>
        <p:txBody>
          <a:bodyPr wrap="square" lIns="0" tIns="0" rIns="0" bIns="0" rtlCol="0" anchor="t">
            <a:spAutoFit/>
          </a:bodyPr>
          <a:lstStyle/>
          <a:p>
            <a:pPr algn="l" indent="0" marL="0">
              <a:lnSpc>
                <a:spcPct val="124000"/>
              </a:lnSpc>
              <a:buNone/>
            </a:pPr>
            <a:r>
              <a:rPr lang="en-US" sz="850" dirty="0">
                <a:solidFill>
                  <a:srgbClr val="475569"/>
                </a:solidFill>
                <a:latin typeface="Arial" pitchFamily="34" charset="0"/>
                <a:ea typeface="Arial" pitchFamily="34" charset="-122"/>
                <a:cs typeface="Arial" pitchFamily="34" charset="-120"/>
              </a:rPr>
              <a:t>Raise an alarm when needed and communicate with a PC.</a:t>
            </a:r>
            <a:endParaRPr lang="en-US" sz="850" dirty="0"/>
          </a:p>
        </p:txBody>
      </p:sp>
      <p:sp>
        <p:nvSpPr>
          <p:cNvPr id="18" name="Text 15"/>
          <p:cNvSpPr/>
          <p:nvPr/>
        </p:nvSpPr>
        <p:spPr>
          <a:xfrm>
            <a:off x="1257300" y="4532709"/>
            <a:ext cx="2599097" cy="110728"/>
          </a:xfrm>
          <a:prstGeom prst="rect">
            <a:avLst/>
          </a:prstGeom>
          <a:noFill/>
          <a:ln/>
        </p:spPr>
        <p:txBody>
          <a:bodyPr wrap="square" lIns="0" tIns="0" rIns="0" bIns="0" rtlCol="0" anchor="t">
            <a:spAutoFit/>
          </a:bodyPr>
          <a:lstStyle/>
          <a:p>
            <a:pPr algn="l" indent="0" marL="0">
              <a:buNone/>
            </a:pPr>
            <a:r>
              <a:rPr lang="en-US" sz="650" spc="2" kern="0" dirty="0">
                <a:solidFill>
                  <a:srgbClr val="94A3B8"/>
                </a:solidFill>
                <a:latin typeface="Arial" pitchFamily="34" charset="0"/>
                <a:ea typeface="Arial" pitchFamily="34" charset="-122"/>
                <a:cs typeface="Arial" pitchFamily="34" charset="-120"/>
              </a:rPr>
              <a:t>A COMPLETE EMBEDDED INTERACTION LOOP</a:t>
            </a:r>
            <a:endParaRPr lang="en-US" sz="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1257300" y="428625"/>
            <a:ext cx="7886700" cy="121444"/>
          </a:xfrm>
          <a:prstGeom prst="rect">
            <a:avLst/>
          </a:prstGeom>
          <a:noFill/>
          <a:ln/>
        </p:spPr>
        <p:txBody>
          <a:bodyPr wrap="square" lIns="0" tIns="0" rIns="0" bIns="0" rtlCol="0" anchor="t">
            <a:spAutoFit/>
          </a:bodyPr>
          <a:lstStyle/>
          <a:p>
            <a:pPr algn="l" indent="0" marL="0">
              <a:buNone/>
            </a:pPr>
            <a:r>
              <a:rPr lang="en-US" sz="750" b="1" spc="2" kern="0" dirty="0">
                <a:solidFill>
                  <a:srgbClr val="2563EB"/>
                </a:solidFill>
                <a:latin typeface="Arial" pitchFamily="34" charset="0"/>
                <a:ea typeface="Arial" pitchFamily="34" charset="-122"/>
                <a:cs typeface="Arial" pitchFamily="34" charset="-120"/>
              </a:rPr>
              <a:t>03 / SYSTEM VALIDATION</a:t>
            </a:r>
            <a:endParaRPr lang="en-US" sz="750" dirty="0"/>
          </a:p>
        </p:txBody>
      </p:sp>
      <p:sp>
        <p:nvSpPr>
          <p:cNvPr id="4" name="Text 1"/>
          <p:cNvSpPr/>
          <p:nvPr/>
        </p:nvSpPr>
        <p:spPr>
          <a:xfrm>
            <a:off x="1257300" y="635794"/>
            <a:ext cx="4286250" cy="660016"/>
          </a:xfrm>
          <a:prstGeom prst="rect">
            <a:avLst/>
          </a:prstGeom>
          <a:noFill/>
          <a:ln/>
        </p:spPr>
        <p:txBody>
          <a:bodyPr wrap="square" lIns="0" tIns="0" rIns="0" bIns="0" rtlCol="0" anchor="t">
            <a:spAutoFit/>
          </a:bodyPr>
          <a:lstStyle/>
          <a:p>
            <a:pPr algn="l" indent="0" marL="0">
              <a:lnSpc>
                <a:spcPct val="88000"/>
              </a:lnSpc>
              <a:buNone/>
            </a:pPr>
            <a:r>
              <a:rPr lang="en-US" sz="2250" dirty="0">
                <a:solidFill>
                  <a:srgbClr val="1E293B"/>
                </a:solidFill>
                <a:latin typeface="Georgia" pitchFamily="34" charset="0"/>
                <a:ea typeface="Georgia" pitchFamily="34" charset="-122"/>
                <a:cs typeface="Georgia" pitchFamily="34" charset="-120"/>
              </a:rPr>
              <a:t>The simulator validates the complete interaction loop</a:t>
            </a:r>
            <a:endParaRPr lang="en-US" sz="2250" dirty="0"/>
          </a:p>
        </p:txBody>
      </p:sp>
      <p:sp>
        <p:nvSpPr>
          <p:cNvPr id="5" name="Text 2"/>
          <p:cNvSpPr/>
          <p:nvPr/>
        </p:nvSpPr>
        <p:spPr>
          <a:xfrm>
            <a:off x="1257300" y="1581559"/>
            <a:ext cx="2286000" cy="822871"/>
          </a:xfrm>
          <a:prstGeom prst="rect">
            <a:avLst/>
          </a:prstGeom>
          <a:noFill/>
          <a:ln/>
        </p:spPr>
        <p:txBody>
          <a:bodyPr wrap="square" lIns="0" tIns="0" rIns="0" bIns="0" rtlCol="0" anchor="t">
            <a:spAutoFit/>
          </a:bodyPr>
          <a:lstStyle/>
          <a:p>
            <a:pPr algn="l" indent="0" marL="0">
              <a:lnSpc>
                <a:spcPct val="128000"/>
              </a:lnSpc>
              <a:buNone/>
            </a:pPr>
            <a:r>
              <a:rPr lang="en-US" sz="950" dirty="0">
                <a:solidFill>
                  <a:srgbClr val="475569"/>
                </a:solidFill>
                <a:latin typeface="Arial" pitchFamily="34" charset="0"/>
                <a:ea typeface="Arial" pitchFamily="34" charset="-122"/>
                <a:cs typeface="Arial" pitchFamily="34" charset="-120"/>
              </a:rPr>
              <a:t>The Proteus-style model brings sensing, processing, and communication paths together in one view.</a:t>
            </a:r>
            <a:endParaRPr lang="en-US" sz="950" dirty="0"/>
          </a:p>
        </p:txBody>
      </p:sp>
      <p:sp>
        <p:nvSpPr>
          <p:cNvPr id="6" name="Text 3"/>
          <p:cNvSpPr/>
          <p:nvPr/>
        </p:nvSpPr>
        <p:spPr>
          <a:xfrm>
            <a:off x="1257300" y="2575880"/>
            <a:ext cx="2286000" cy="342900"/>
          </a:xfrm>
          <a:prstGeom prst="rect">
            <a:avLst/>
          </a:prstGeom>
          <a:noFill/>
          <a:ln/>
        </p:spPr>
        <p:txBody>
          <a:bodyPr wrap="square" lIns="204089" tIns="0" rIns="0" bIns="0" rtlCol="0" anchor="t">
            <a:spAutoFit/>
          </a:bodyPr>
          <a:lstStyle/>
          <a:p>
            <a:pPr algn="l" indent="0" marL="0">
              <a:lnSpc>
                <a:spcPct val="120000"/>
              </a:lnSpc>
              <a:buNone/>
            </a:pPr>
            <a:r>
              <a:rPr lang="en-US" sz="800" b="1" dirty="0">
                <a:solidFill>
                  <a:srgbClr val="475569"/>
                </a:solidFill>
                <a:latin typeface="Arial" pitchFamily="34" charset="0"/>
                <a:ea typeface="Arial" pitchFamily="34" charset="-122"/>
                <a:cs typeface="Arial" pitchFamily="34" charset="-120"/>
              </a:rPr>
              <a:t>LCD Interface:</a:t>
            </a:r>
            <a:r>
              <a:rPr lang="en-US" sz="850" dirty="0">
                <a:solidFill>
                  <a:srgbClr val="475569"/>
                </a:solidFill>
                <a:latin typeface="Arial" pitchFamily="34" charset="0"/>
                <a:ea typeface="Arial" pitchFamily="34" charset="-122"/>
                <a:cs typeface="Arial" pitchFamily="34" charset="-120"/>
              </a:rPr>
              <a:t> The operator's first point of contact for real-time status.</a:t>
            </a:r>
            <a:endParaRPr lang="en-US" sz="800" dirty="0"/>
          </a:p>
        </p:txBody>
      </p:sp>
      <p:sp>
        <p:nvSpPr>
          <p:cNvPr id="7" name="Text 4"/>
          <p:cNvSpPr/>
          <p:nvPr/>
        </p:nvSpPr>
        <p:spPr>
          <a:xfrm>
            <a:off x="1257300" y="3033080"/>
            <a:ext cx="2286000" cy="342900"/>
          </a:xfrm>
          <a:prstGeom prst="rect">
            <a:avLst/>
          </a:prstGeom>
          <a:noFill/>
          <a:ln/>
        </p:spPr>
        <p:txBody>
          <a:bodyPr wrap="square" lIns="204089" tIns="0" rIns="0" bIns="0" rtlCol="0" anchor="t">
            <a:spAutoFit/>
          </a:bodyPr>
          <a:lstStyle/>
          <a:p>
            <a:pPr algn="l" indent="0" marL="0">
              <a:lnSpc>
                <a:spcPct val="120000"/>
              </a:lnSpc>
              <a:buNone/>
            </a:pPr>
            <a:r>
              <a:rPr lang="en-US" sz="800" b="1" dirty="0">
                <a:solidFill>
                  <a:srgbClr val="475569"/>
                </a:solidFill>
                <a:latin typeface="Arial" pitchFamily="34" charset="0"/>
                <a:ea typeface="Arial" pitchFamily="34" charset="-122"/>
                <a:cs typeface="Arial" pitchFamily="34" charset="-120"/>
              </a:rPr>
              <a:t>UART Terminal:</a:t>
            </a:r>
            <a:r>
              <a:rPr lang="en-US" sz="850" dirty="0">
                <a:solidFill>
                  <a:srgbClr val="475569"/>
                </a:solidFill>
                <a:latin typeface="Arial" pitchFamily="34" charset="0"/>
                <a:ea typeface="Arial" pitchFamily="34" charset="-122"/>
                <a:cs typeface="Arial" pitchFamily="34" charset="-120"/>
              </a:rPr>
              <a:t> A bridge from the embedded device to a desktop workflow.</a:t>
            </a:r>
            <a:endParaRPr lang="en-US" sz="800" dirty="0"/>
          </a:p>
        </p:txBody>
      </p:sp>
      <p:sp>
        <p:nvSpPr>
          <p:cNvPr id="8" name="Text 5"/>
          <p:cNvSpPr/>
          <p:nvPr/>
        </p:nvSpPr>
        <p:spPr>
          <a:xfrm>
            <a:off x="1257300" y="3490280"/>
            <a:ext cx="2286000" cy="342900"/>
          </a:xfrm>
          <a:prstGeom prst="rect">
            <a:avLst/>
          </a:prstGeom>
          <a:noFill/>
          <a:ln/>
        </p:spPr>
        <p:txBody>
          <a:bodyPr wrap="square" lIns="204089" tIns="0" rIns="0" bIns="0" rtlCol="0" anchor="t">
            <a:spAutoFit/>
          </a:bodyPr>
          <a:lstStyle/>
          <a:p>
            <a:pPr algn="l" indent="0" marL="0">
              <a:lnSpc>
                <a:spcPct val="120000"/>
              </a:lnSpc>
              <a:buNone/>
            </a:pPr>
            <a:r>
              <a:rPr lang="en-US" sz="800" b="1" dirty="0">
                <a:solidFill>
                  <a:srgbClr val="475569"/>
                </a:solidFill>
                <a:latin typeface="Arial" pitchFamily="34" charset="0"/>
                <a:ea typeface="Arial" pitchFamily="34" charset="-122"/>
                <a:cs typeface="Arial" pitchFamily="34" charset="-120"/>
              </a:rPr>
              <a:t>Alarm Path:</a:t>
            </a:r>
            <a:r>
              <a:rPr lang="en-US" sz="850" dirty="0">
                <a:solidFill>
                  <a:srgbClr val="475569"/>
                </a:solidFill>
                <a:latin typeface="Arial" pitchFamily="34" charset="0"/>
                <a:ea typeface="Arial" pitchFamily="34" charset="-122"/>
                <a:cs typeface="Arial" pitchFamily="34" charset="-120"/>
              </a:rPr>
              <a:t> Direct response channel via the buzzer for threshold alerts.</a:t>
            </a:r>
            <a:endParaRPr lang="en-US" sz="800" dirty="0"/>
          </a:p>
        </p:txBody>
      </p:sp>
      <p:sp>
        <p:nvSpPr>
          <p:cNvPr id="9" name="Text 6"/>
          <p:cNvSpPr/>
          <p:nvPr/>
        </p:nvSpPr>
        <p:spPr>
          <a:xfrm>
            <a:off x="1257300" y="2575880"/>
            <a:ext cx="114300" cy="171450"/>
          </a:xfrm>
          <a:prstGeom prst="rect">
            <a:avLst/>
          </a:prstGeom>
          <a:noFill/>
          <a:ln/>
        </p:spPr>
        <p:txBody>
          <a:bodyPr wrap="none" lIns="0" tIns="0" rIns="0" bIns="0" rtlCol="0" anchor="t">
            <a:spAutoFit/>
          </a:bodyPr>
          <a:lstStyle/>
          <a:p>
            <a:pPr algn="l" indent="0" marL="0">
              <a:lnSpc>
                <a:spcPct val="120000"/>
              </a:lnSpc>
              <a:buNone/>
            </a:pPr>
            <a:r>
              <a:rPr lang="en-US" sz="800" b="1" dirty="0">
                <a:solidFill>
                  <a:srgbClr val="2563EB"/>
                </a:solidFill>
                <a:latin typeface="Arial" pitchFamily="34" charset="0"/>
                <a:ea typeface="Arial" pitchFamily="34" charset="-122"/>
                <a:cs typeface="Arial" pitchFamily="34" charset="-120"/>
              </a:rPr>
              <a:t>→</a:t>
            </a:r>
            <a:endParaRPr lang="en-US" sz="800" dirty="0"/>
          </a:p>
        </p:txBody>
      </p:sp>
      <p:sp>
        <p:nvSpPr>
          <p:cNvPr id="10" name="Text 7"/>
          <p:cNvSpPr/>
          <p:nvPr/>
        </p:nvSpPr>
        <p:spPr>
          <a:xfrm>
            <a:off x="1257300" y="3033080"/>
            <a:ext cx="114300" cy="171450"/>
          </a:xfrm>
          <a:prstGeom prst="rect">
            <a:avLst/>
          </a:prstGeom>
          <a:noFill/>
          <a:ln/>
        </p:spPr>
        <p:txBody>
          <a:bodyPr wrap="none" lIns="0" tIns="0" rIns="0" bIns="0" rtlCol="0" anchor="t">
            <a:spAutoFit/>
          </a:bodyPr>
          <a:lstStyle/>
          <a:p>
            <a:pPr algn="l" indent="0" marL="0">
              <a:lnSpc>
                <a:spcPct val="120000"/>
              </a:lnSpc>
              <a:buNone/>
            </a:pPr>
            <a:r>
              <a:rPr lang="en-US" sz="800" b="1" dirty="0">
                <a:solidFill>
                  <a:srgbClr val="2563EB"/>
                </a:solidFill>
                <a:latin typeface="Arial" pitchFamily="34" charset="0"/>
                <a:ea typeface="Arial" pitchFamily="34" charset="-122"/>
                <a:cs typeface="Arial" pitchFamily="34" charset="-120"/>
              </a:rPr>
              <a:t>→</a:t>
            </a:r>
            <a:endParaRPr lang="en-US" sz="800" dirty="0"/>
          </a:p>
        </p:txBody>
      </p:sp>
      <p:sp>
        <p:nvSpPr>
          <p:cNvPr id="11" name="Text 8"/>
          <p:cNvSpPr/>
          <p:nvPr/>
        </p:nvSpPr>
        <p:spPr>
          <a:xfrm>
            <a:off x="1257300" y="3490280"/>
            <a:ext cx="114300" cy="171450"/>
          </a:xfrm>
          <a:prstGeom prst="rect">
            <a:avLst/>
          </a:prstGeom>
          <a:noFill/>
          <a:ln/>
        </p:spPr>
        <p:txBody>
          <a:bodyPr wrap="none" lIns="0" tIns="0" rIns="0" bIns="0" rtlCol="0" anchor="t">
            <a:spAutoFit/>
          </a:bodyPr>
          <a:lstStyle/>
          <a:p>
            <a:pPr algn="l" indent="0" marL="0">
              <a:lnSpc>
                <a:spcPct val="120000"/>
              </a:lnSpc>
              <a:buNone/>
            </a:pPr>
            <a:r>
              <a:rPr lang="en-US" sz="800" b="1" dirty="0">
                <a:solidFill>
                  <a:srgbClr val="2563EB"/>
                </a:solidFill>
                <a:latin typeface="Arial" pitchFamily="34" charset="0"/>
                <a:ea typeface="Arial" pitchFamily="34" charset="-122"/>
                <a:cs typeface="Arial" pitchFamily="34" charset="-120"/>
              </a:rPr>
              <a:t>→</a:t>
            </a:r>
            <a:endParaRPr lang="en-US" sz="800" dirty="0"/>
          </a:p>
        </p:txBody>
      </p:sp>
      <p:pic>
        <p:nvPicPr>
          <p:cNvPr id="12" name="Image 1" descr="preencoded.png">    </p:cNvPr>
          <p:cNvPicPr>
            <a:picLocks noChangeAspect="1"/>
          </p:cNvPicPr>
          <p:nvPr/>
        </p:nvPicPr>
        <p:blipFill>
          <a:blip r:embed="rId2"/>
          <a:stretch>
            <a:fillRect/>
          </a:stretch>
        </p:blipFill>
        <p:spPr>
          <a:xfrm>
            <a:off x="3829050" y="1581559"/>
            <a:ext cx="5000625" cy="3143250"/>
          </a:xfrm>
          <a:prstGeom prst="rect">
            <a:avLst/>
          </a:prstGeom>
        </p:spPr>
      </p:pic>
      <p:sp>
        <p:nvSpPr>
          <p:cNvPr id="13" name="Shape 9"/>
          <p:cNvSpPr/>
          <p:nvPr/>
        </p:nvSpPr>
        <p:spPr>
          <a:xfrm>
            <a:off x="4114800" y="2153059"/>
            <a:ext cx="735137" cy="157163"/>
          </a:xfrm>
          <a:prstGeom prst="rect">
            <a:avLst/>
          </a:prstGeom>
          <a:solidFill>
            <a:srgbClr val="2563EB"/>
          </a:solidFill>
          <a:ln/>
        </p:spPr>
      </p:sp>
      <p:sp>
        <p:nvSpPr>
          <p:cNvPr id="14" name="Text 10"/>
          <p:cNvSpPr/>
          <p:nvPr/>
        </p:nvSpPr>
        <p:spPr>
          <a:xfrm>
            <a:off x="4114800" y="2153059"/>
            <a:ext cx="735137" cy="157163"/>
          </a:xfrm>
          <a:prstGeom prst="rect">
            <a:avLst/>
          </a:prstGeom>
          <a:noFill/>
          <a:ln/>
        </p:spPr>
        <p:txBody>
          <a:bodyPr wrap="none" lIns="102108" tIns="34036" rIns="102108" bIns="34036" rtlCol="0" anchor="t">
            <a:spAutoFit/>
          </a:bodyPr>
          <a:lstStyle/>
          <a:p>
            <a:pPr algn="l" indent="0" marL="0">
              <a:buNone/>
            </a:pPr>
            <a:r>
              <a:rPr lang="en-US" sz="600" b="1" dirty="0">
                <a:solidFill>
                  <a:srgbClr val="FFFFFF"/>
                </a:solidFill>
                <a:latin typeface="Arial" pitchFamily="34" charset="0"/>
                <a:ea typeface="Arial" pitchFamily="34" charset="-122"/>
                <a:cs typeface="Arial" pitchFamily="34" charset="-120"/>
              </a:rPr>
              <a:t>LCD DISPLAY</a:t>
            </a:r>
            <a:endParaRPr lang="en-US" sz="600" dirty="0"/>
          </a:p>
        </p:txBody>
      </p:sp>
      <p:sp>
        <p:nvSpPr>
          <p:cNvPr id="15" name="Shape 11"/>
          <p:cNvSpPr/>
          <p:nvPr/>
        </p:nvSpPr>
        <p:spPr>
          <a:xfrm>
            <a:off x="7258050" y="2867434"/>
            <a:ext cx="631887" cy="157163"/>
          </a:xfrm>
          <a:prstGeom prst="rect">
            <a:avLst/>
          </a:prstGeom>
          <a:solidFill>
            <a:srgbClr val="2563EB"/>
          </a:solidFill>
          <a:ln/>
        </p:spPr>
      </p:sp>
      <p:sp>
        <p:nvSpPr>
          <p:cNvPr id="16" name="Text 12"/>
          <p:cNvSpPr/>
          <p:nvPr/>
        </p:nvSpPr>
        <p:spPr>
          <a:xfrm>
            <a:off x="7258050" y="2867434"/>
            <a:ext cx="631887" cy="157163"/>
          </a:xfrm>
          <a:prstGeom prst="rect">
            <a:avLst/>
          </a:prstGeom>
          <a:noFill/>
          <a:ln/>
        </p:spPr>
        <p:txBody>
          <a:bodyPr wrap="none" lIns="102108" tIns="34036" rIns="102108" bIns="34036" rtlCol="0" anchor="t">
            <a:spAutoFit/>
          </a:bodyPr>
          <a:lstStyle/>
          <a:p>
            <a:pPr algn="l" indent="0" marL="0">
              <a:buNone/>
            </a:pPr>
            <a:r>
              <a:rPr lang="en-US" sz="600" b="1" dirty="0">
                <a:solidFill>
                  <a:srgbClr val="FFFFFF"/>
                </a:solidFill>
                <a:latin typeface="Arial" pitchFamily="34" charset="0"/>
                <a:ea typeface="Arial" pitchFamily="34" charset="-122"/>
                <a:cs typeface="Arial" pitchFamily="34" charset="-120"/>
              </a:rPr>
              <a:t>ATMEGA32</a:t>
            </a:r>
            <a:endParaRPr lang="en-US" sz="600" dirty="0"/>
          </a:p>
        </p:txBody>
      </p:sp>
      <p:sp>
        <p:nvSpPr>
          <p:cNvPr id="17" name="Shape 13"/>
          <p:cNvSpPr/>
          <p:nvPr/>
        </p:nvSpPr>
        <p:spPr>
          <a:xfrm>
            <a:off x="5400675" y="4167597"/>
            <a:ext cx="766781" cy="157163"/>
          </a:xfrm>
          <a:prstGeom prst="rect">
            <a:avLst/>
          </a:prstGeom>
          <a:solidFill>
            <a:srgbClr val="2563EB"/>
          </a:solidFill>
          <a:ln/>
        </p:spPr>
      </p:sp>
      <p:sp>
        <p:nvSpPr>
          <p:cNvPr id="18" name="Text 14"/>
          <p:cNvSpPr/>
          <p:nvPr/>
        </p:nvSpPr>
        <p:spPr>
          <a:xfrm>
            <a:off x="5400675" y="4167597"/>
            <a:ext cx="766781" cy="157163"/>
          </a:xfrm>
          <a:prstGeom prst="rect">
            <a:avLst/>
          </a:prstGeom>
          <a:noFill/>
          <a:ln/>
        </p:spPr>
        <p:txBody>
          <a:bodyPr wrap="none" lIns="102108" tIns="34036" rIns="102108" bIns="34036" rtlCol="0" anchor="t">
            <a:spAutoFit/>
          </a:bodyPr>
          <a:lstStyle/>
          <a:p>
            <a:pPr algn="l" indent="0" marL="0">
              <a:buNone/>
            </a:pPr>
            <a:r>
              <a:rPr lang="en-US" sz="600" b="1" dirty="0">
                <a:solidFill>
                  <a:srgbClr val="FFFFFF"/>
                </a:solidFill>
                <a:latin typeface="Arial" pitchFamily="34" charset="0"/>
                <a:ea typeface="Arial" pitchFamily="34" charset="-122"/>
                <a:cs typeface="Arial" pitchFamily="34" charset="-120"/>
              </a:rPr>
              <a:t>UART BRIDGE</a:t>
            </a:r>
            <a:endParaRPr lang="en-US" sz="600" dirty="0"/>
          </a:p>
        </p:txBody>
      </p:sp>
      <p:sp>
        <p:nvSpPr>
          <p:cNvPr id="19" name="Shape 15"/>
          <p:cNvSpPr/>
          <p:nvPr/>
        </p:nvSpPr>
        <p:spPr>
          <a:xfrm>
            <a:off x="7691531" y="3881847"/>
            <a:ext cx="852394" cy="157163"/>
          </a:xfrm>
          <a:prstGeom prst="rect">
            <a:avLst/>
          </a:prstGeom>
          <a:solidFill>
            <a:srgbClr val="2563EB"/>
          </a:solidFill>
          <a:ln/>
        </p:spPr>
      </p:sp>
      <p:sp>
        <p:nvSpPr>
          <p:cNvPr id="20" name="Text 16"/>
          <p:cNvSpPr/>
          <p:nvPr/>
        </p:nvSpPr>
        <p:spPr>
          <a:xfrm>
            <a:off x="7691531" y="3881847"/>
            <a:ext cx="852394" cy="157163"/>
          </a:xfrm>
          <a:prstGeom prst="rect">
            <a:avLst/>
          </a:prstGeom>
          <a:noFill/>
          <a:ln/>
        </p:spPr>
        <p:txBody>
          <a:bodyPr wrap="none" lIns="102108" tIns="34036" rIns="102108" bIns="34036" rtlCol="0" anchor="t">
            <a:spAutoFit/>
          </a:bodyPr>
          <a:lstStyle/>
          <a:p>
            <a:pPr algn="l" indent="0" marL="0">
              <a:buNone/>
            </a:pPr>
            <a:r>
              <a:rPr lang="en-US" sz="600" b="1" dirty="0">
                <a:solidFill>
                  <a:srgbClr val="FFFFFF"/>
                </a:solidFill>
                <a:latin typeface="Arial" pitchFamily="34" charset="0"/>
                <a:ea typeface="Arial" pitchFamily="34" charset="-122"/>
                <a:cs typeface="Arial" pitchFamily="34" charset="-120"/>
              </a:rPr>
              <a:t>ALARM BUZZER</a:t>
            </a:r>
            <a:endParaRPr lang="en-US" sz="600" dirty="0"/>
          </a:p>
        </p:txBody>
      </p:sp>
      <p:sp>
        <p:nvSpPr>
          <p:cNvPr id="21" name="Text 17"/>
          <p:cNvSpPr/>
          <p:nvPr/>
        </p:nvSpPr>
        <p:spPr>
          <a:xfrm>
            <a:off x="6584807" y="4604147"/>
            <a:ext cx="1987693" cy="110728"/>
          </a:xfrm>
          <a:prstGeom prst="rect">
            <a:avLst/>
          </a:prstGeom>
          <a:noFill/>
          <a:ln/>
        </p:spPr>
        <p:txBody>
          <a:bodyPr wrap="square" lIns="0" tIns="0" rIns="0" bIns="0" rtlCol="0" anchor="t">
            <a:spAutoFit/>
          </a:bodyPr>
          <a:lstStyle/>
          <a:p>
            <a:pPr algn="l" indent="0" marL="0">
              <a:buNone/>
            </a:pPr>
            <a:r>
              <a:rPr lang="en-US" sz="650" spc="2" kern="0" dirty="0">
                <a:solidFill>
                  <a:srgbClr val="94A3B8"/>
                </a:solidFill>
                <a:latin typeface="Arial" pitchFamily="34" charset="0"/>
                <a:ea typeface="Arial" pitchFamily="34" charset="-122"/>
                <a:cs typeface="Arial" pitchFamily="34" charset="-120"/>
              </a:rPr>
              <a:t>FOCUS ON DESIGN AND BEHAVIOR</a:t>
            </a:r>
            <a:endParaRPr lang="en-US" sz="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1285875" y="571500"/>
            <a:ext cx="7143750" cy="121444"/>
          </a:xfrm>
          <a:prstGeom prst="rect">
            <a:avLst/>
          </a:prstGeom>
          <a:noFill/>
          <a:ln/>
        </p:spPr>
        <p:txBody>
          <a:bodyPr wrap="square" lIns="0" tIns="0" rIns="0" bIns="0" rtlCol="0" anchor="t">
            <a:spAutoFit/>
          </a:bodyPr>
          <a:lstStyle/>
          <a:p>
            <a:pPr algn="l" indent="0" marL="0">
              <a:buNone/>
            </a:pPr>
            <a:r>
              <a:rPr lang="en-US" sz="750" b="1" spc="2" kern="0" dirty="0">
                <a:solidFill>
                  <a:srgbClr val="2563EB"/>
                </a:solidFill>
                <a:latin typeface="Arial" pitchFamily="34" charset="0"/>
                <a:ea typeface="Arial" pitchFamily="34" charset="-122"/>
                <a:cs typeface="Arial" pitchFamily="34" charset="-120"/>
              </a:rPr>
              <a:t>04 / INTERFACE PHILOSOPHY</a:t>
            </a:r>
            <a:endParaRPr lang="en-US" sz="750" dirty="0"/>
          </a:p>
        </p:txBody>
      </p:sp>
      <p:sp>
        <p:nvSpPr>
          <p:cNvPr id="4" name="Text 1"/>
          <p:cNvSpPr/>
          <p:nvPr/>
        </p:nvSpPr>
        <p:spPr>
          <a:xfrm>
            <a:off x="1285875" y="835819"/>
            <a:ext cx="4286250" cy="754335"/>
          </a:xfrm>
          <a:prstGeom prst="rect">
            <a:avLst/>
          </a:prstGeom>
          <a:noFill/>
          <a:ln/>
        </p:spPr>
        <p:txBody>
          <a:bodyPr wrap="square" lIns="0" tIns="0" rIns="0" bIns="0" rtlCol="0" anchor="t">
            <a:spAutoFit/>
          </a:bodyPr>
          <a:lstStyle/>
          <a:p>
            <a:pPr algn="l" indent="0" marL="0">
              <a:lnSpc>
                <a:spcPct val="88000"/>
              </a:lnSpc>
              <a:buNone/>
            </a:pPr>
            <a:r>
              <a:rPr lang="en-US" sz="2600" dirty="0">
                <a:solidFill>
                  <a:srgbClr val="1E293B"/>
                </a:solidFill>
                <a:latin typeface="Georgia" pitchFamily="34" charset="0"/>
                <a:ea typeface="Georgia" pitchFamily="34" charset="-122"/>
                <a:cs typeface="Georgia" pitchFamily="34" charset="-120"/>
              </a:rPr>
              <a:t>The interface is designed around decisions</a:t>
            </a:r>
            <a:endParaRPr lang="en-US" sz="2600" dirty="0"/>
          </a:p>
        </p:txBody>
      </p:sp>
      <p:sp>
        <p:nvSpPr>
          <p:cNvPr id="5" name="Text 2"/>
          <p:cNvSpPr/>
          <p:nvPr/>
        </p:nvSpPr>
        <p:spPr>
          <a:xfrm>
            <a:off x="1285875" y="1875904"/>
            <a:ext cx="3214688" cy="685800"/>
          </a:xfrm>
          <a:prstGeom prst="rect">
            <a:avLst/>
          </a:prstGeom>
          <a:noFill/>
          <a:ln/>
        </p:spPr>
        <p:txBody>
          <a:bodyPr wrap="square" lIns="0" tIns="0" rIns="0" bIns="0" rtlCol="0" anchor="t">
            <a:spAutoFit/>
          </a:bodyPr>
          <a:lstStyle/>
          <a:p>
            <a:pPr algn="l" indent="0" marL="0">
              <a:lnSpc>
                <a:spcPct val="128000"/>
              </a:lnSpc>
              <a:buNone/>
            </a:pPr>
            <a:r>
              <a:rPr lang="en-US" sz="1050" dirty="0">
                <a:solidFill>
                  <a:srgbClr val="475569"/>
                </a:solidFill>
                <a:latin typeface="Arial" pitchFamily="34" charset="0"/>
                <a:ea typeface="Arial" pitchFamily="34" charset="-122"/>
                <a:cs typeface="Arial" pitchFamily="34" charset="-120"/>
              </a:rPr>
              <a:t>A clear status display answers three questions quickly: what is being monitored, whether the system is ready, and whether attention is needed.</a:t>
            </a:r>
            <a:endParaRPr lang="en-US" sz="1050" dirty="0"/>
          </a:p>
        </p:txBody>
      </p:sp>
      <p:sp>
        <p:nvSpPr>
          <p:cNvPr id="6" name="Shape 3"/>
          <p:cNvSpPr/>
          <p:nvPr/>
        </p:nvSpPr>
        <p:spPr>
          <a:xfrm>
            <a:off x="1285875" y="2847454"/>
            <a:ext cx="85725" cy="14288"/>
          </a:xfrm>
          <a:prstGeom prst="rect">
            <a:avLst/>
          </a:prstGeom>
          <a:solidFill>
            <a:srgbClr val="2563EB"/>
          </a:solidFill>
          <a:ln/>
        </p:spPr>
      </p:sp>
      <p:sp>
        <p:nvSpPr>
          <p:cNvPr id="7" name="Text 4"/>
          <p:cNvSpPr/>
          <p:nvPr/>
        </p:nvSpPr>
        <p:spPr>
          <a:xfrm>
            <a:off x="1500188" y="2776017"/>
            <a:ext cx="3000375" cy="114300"/>
          </a:xfrm>
          <a:prstGeom prst="rect">
            <a:avLst/>
          </a:prstGeom>
          <a:noFill/>
          <a:ln/>
        </p:spPr>
        <p:txBody>
          <a:bodyPr wrap="square" lIns="0" tIns="0" rIns="0" bIns="0" rtlCol="0" anchor="t">
            <a:spAutoFit/>
          </a:bodyPr>
          <a:lstStyle/>
          <a:p>
            <a:pPr algn="l" indent="0" marL="0">
              <a:buNone/>
            </a:pPr>
            <a:r>
              <a:rPr lang="en-US" sz="700" b="1" spc="1" kern="0" dirty="0">
                <a:solidFill>
                  <a:srgbClr val="2563EB"/>
                </a:solidFill>
                <a:latin typeface="Arial" pitchFamily="34" charset="0"/>
                <a:ea typeface="Arial" pitchFamily="34" charset="-122"/>
                <a:cs typeface="Arial" pitchFamily="34" charset="-120"/>
              </a:rPr>
              <a:t>CLARITY FIRST</a:t>
            </a:r>
            <a:endParaRPr lang="en-US" sz="700" dirty="0"/>
          </a:p>
        </p:txBody>
      </p:sp>
      <p:sp>
        <p:nvSpPr>
          <p:cNvPr id="8" name="Text 5"/>
          <p:cNvSpPr/>
          <p:nvPr/>
        </p:nvSpPr>
        <p:spPr>
          <a:xfrm>
            <a:off x="1500188" y="2918892"/>
            <a:ext cx="2994794" cy="446484"/>
          </a:xfrm>
          <a:prstGeom prst="rect">
            <a:avLst/>
          </a:prstGeom>
          <a:noFill/>
          <a:ln/>
        </p:spPr>
        <p:txBody>
          <a:bodyPr wrap="square" lIns="0" tIns="0" rIns="0" bIns="0" rtlCol="0" anchor="t">
            <a:spAutoFit/>
          </a:bodyPr>
          <a:lstStyle/>
          <a:p>
            <a:pPr algn="l" indent="0" marL="0">
              <a:buNone/>
            </a:pPr>
            <a:r>
              <a:rPr lang="en-US" sz="950" dirty="0">
                <a:solidFill>
                  <a:srgbClr val="1E293B"/>
                </a:solidFill>
                <a:latin typeface="Arial" pitchFamily="34" charset="0"/>
                <a:ea typeface="Arial" pitchFamily="34" charset="-122"/>
                <a:cs typeface="Arial" pitchFamily="34" charset="-120"/>
              </a:rPr>
              <a:t>Neutral placeholders communicate that the device is waiting for live measurements rather than presenting invented results.</a:t>
            </a:r>
            <a:endParaRPr lang="en-US" sz="950" dirty="0"/>
          </a:p>
        </p:txBody>
      </p:sp>
      <p:sp>
        <p:nvSpPr>
          <p:cNvPr id="9" name="Shape 6"/>
          <p:cNvSpPr/>
          <p:nvPr/>
        </p:nvSpPr>
        <p:spPr>
          <a:xfrm>
            <a:off x="1285875" y="3611835"/>
            <a:ext cx="85725" cy="14288"/>
          </a:xfrm>
          <a:prstGeom prst="rect">
            <a:avLst/>
          </a:prstGeom>
          <a:solidFill>
            <a:srgbClr val="2563EB"/>
          </a:solidFill>
          <a:ln/>
        </p:spPr>
      </p:sp>
      <p:sp>
        <p:nvSpPr>
          <p:cNvPr id="10" name="Text 7"/>
          <p:cNvSpPr/>
          <p:nvPr/>
        </p:nvSpPr>
        <p:spPr>
          <a:xfrm>
            <a:off x="1500188" y="3540398"/>
            <a:ext cx="3000375" cy="114300"/>
          </a:xfrm>
          <a:prstGeom prst="rect">
            <a:avLst/>
          </a:prstGeom>
          <a:noFill/>
          <a:ln/>
        </p:spPr>
        <p:txBody>
          <a:bodyPr wrap="square" lIns="0" tIns="0" rIns="0" bIns="0" rtlCol="0" anchor="t">
            <a:spAutoFit/>
          </a:bodyPr>
          <a:lstStyle/>
          <a:p>
            <a:pPr algn="l" indent="0" marL="0">
              <a:buNone/>
            </a:pPr>
            <a:r>
              <a:rPr lang="en-US" sz="700" b="1" spc="1" kern="0" dirty="0">
                <a:solidFill>
                  <a:srgbClr val="2563EB"/>
                </a:solidFill>
                <a:latin typeface="Arial" pitchFamily="34" charset="0"/>
                <a:ea typeface="Arial" pitchFamily="34" charset="-122"/>
                <a:cs typeface="Arial" pitchFamily="34" charset="-120"/>
              </a:rPr>
              <a:t>VISUAL HIERARCHY</a:t>
            </a:r>
            <a:endParaRPr lang="en-US" sz="700" dirty="0"/>
          </a:p>
        </p:txBody>
      </p:sp>
      <p:sp>
        <p:nvSpPr>
          <p:cNvPr id="11" name="Text 8"/>
          <p:cNvSpPr/>
          <p:nvPr/>
        </p:nvSpPr>
        <p:spPr>
          <a:xfrm>
            <a:off x="1500188" y="3683273"/>
            <a:ext cx="2666293" cy="446484"/>
          </a:xfrm>
          <a:prstGeom prst="rect">
            <a:avLst/>
          </a:prstGeom>
          <a:noFill/>
          <a:ln/>
        </p:spPr>
        <p:txBody>
          <a:bodyPr wrap="square" lIns="0" tIns="0" rIns="0" bIns="0" rtlCol="0" anchor="t">
            <a:spAutoFit/>
          </a:bodyPr>
          <a:lstStyle/>
          <a:p>
            <a:pPr algn="l" indent="0" marL="0">
              <a:buNone/>
            </a:pPr>
            <a:r>
              <a:rPr lang="en-US" sz="950" dirty="0">
                <a:solidFill>
                  <a:srgbClr val="1E293B"/>
                </a:solidFill>
                <a:latin typeface="Arial" pitchFamily="34" charset="0"/>
                <a:ea typeface="Arial" pitchFamily="34" charset="-122"/>
                <a:cs typeface="Arial" pitchFamily="34" charset="-120"/>
              </a:rPr>
              <a:t>The visual language uses strong hierarchy and restrained color to highlight critical alerts over routine data.</a:t>
            </a:r>
            <a:endParaRPr lang="en-US" sz="950" dirty="0"/>
          </a:p>
        </p:txBody>
      </p:sp>
      <p:sp>
        <p:nvSpPr>
          <p:cNvPr id="12" name="Shape 9"/>
          <p:cNvSpPr/>
          <p:nvPr/>
        </p:nvSpPr>
        <p:spPr>
          <a:xfrm>
            <a:off x="1285875" y="4376217"/>
            <a:ext cx="85725" cy="14288"/>
          </a:xfrm>
          <a:prstGeom prst="rect">
            <a:avLst/>
          </a:prstGeom>
          <a:solidFill>
            <a:srgbClr val="2563EB"/>
          </a:solidFill>
          <a:ln/>
        </p:spPr>
      </p:sp>
      <p:sp>
        <p:nvSpPr>
          <p:cNvPr id="13" name="Text 10"/>
          <p:cNvSpPr/>
          <p:nvPr/>
        </p:nvSpPr>
        <p:spPr>
          <a:xfrm>
            <a:off x="1500188" y="4304779"/>
            <a:ext cx="3000375" cy="114300"/>
          </a:xfrm>
          <a:prstGeom prst="rect">
            <a:avLst/>
          </a:prstGeom>
          <a:noFill/>
          <a:ln/>
        </p:spPr>
        <p:txBody>
          <a:bodyPr wrap="square" lIns="0" tIns="0" rIns="0" bIns="0" rtlCol="0" anchor="t">
            <a:spAutoFit/>
          </a:bodyPr>
          <a:lstStyle/>
          <a:p>
            <a:pPr algn="l" indent="0" marL="0">
              <a:buNone/>
            </a:pPr>
            <a:r>
              <a:rPr lang="en-US" sz="700" b="1" spc="1" kern="0" dirty="0">
                <a:solidFill>
                  <a:srgbClr val="2563EB"/>
                </a:solidFill>
                <a:latin typeface="Arial" pitchFamily="34" charset="0"/>
                <a:ea typeface="Arial" pitchFamily="34" charset="-122"/>
                <a:cs typeface="Arial" pitchFamily="34" charset="-120"/>
              </a:rPr>
              <a:t>FUTURE READY</a:t>
            </a:r>
            <a:endParaRPr lang="en-US" sz="700" dirty="0"/>
          </a:p>
        </p:txBody>
      </p:sp>
      <p:sp>
        <p:nvSpPr>
          <p:cNvPr id="14" name="Text 11"/>
          <p:cNvSpPr/>
          <p:nvPr/>
        </p:nvSpPr>
        <p:spPr>
          <a:xfrm>
            <a:off x="1500188" y="4447654"/>
            <a:ext cx="2945402" cy="446484"/>
          </a:xfrm>
          <a:prstGeom prst="rect">
            <a:avLst/>
          </a:prstGeom>
          <a:noFill/>
          <a:ln/>
        </p:spPr>
        <p:txBody>
          <a:bodyPr wrap="square" lIns="0" tIns="0" rIns="0" bIns="0" rtlCol="0" anchor="t">
            <a:spAutoFit/>
          </a:bodyPr>
          <a:lstStyle/>
          <a:p>
            <a:pPr algn="l" indent="0" marL="0">
              <a:buNone/>
            </a:pPr>
            <a:r>
              <a:rPr lang="en-US" sz="950" dirty="0">
                <a:solidFill>
                  <a:srgbClr val="1E293B"/>
                </a:solidFill>
                <a:latin typeface="Arial" pitchFamily="34" charset="0"/>
                <a:ea typeface="Arial" pitchFamily="34" charset="-122"/>
                <a:cs typeface="Arial" pitchFamily="34" charset="-120"/>
              </a:rPr>
              <a:t>The same logic can be extended into a richer PC dashboard without changing the embedded sensing core.</a:t>
            </a:r>
            <a:endParaRPr lang="en-US" sz="950" dirty="0"/>
          </a:p>
        </p:txBody>
      </p:sp>
      <p:sp>
        <p:nvSpPr>
          <p:cNvPr id="15" name="Shape 12"/>
          <p:cNvSpPr/>
          <p:nvPr/>
        </p:nvSpPr>
        <p:spPr>
          <a:xfrm>
            <a:off x="4929188" y="1875904"/>
            <a:ext cx="3429000" cy="2857500"/>
          </a:xfrm>
          <a:prstGeom prst="rect">
            <a:avLst/>
          </a:prstGeom>
          <a:solidFill>
            <a:srgbClr val="FFFFFF"/>
          </a:solidFill>
          <a:ln w="9144">
            <a:solidFill>
              <a:srgbClr val="E2E8F0"/>
            </a:solidFill>
            <a:prstDash val="solid"/>
          </a:ln>
        </p:spPr>
      </p:sp>
      <p:sp>
        <p:nvSpPr>
          <p:cNvPr id="16" name="Shape 13"/>
          <p:cNvSpPr/>
          <p:nvPr/>
        </p:nvSpPr>
        <p:spPr>
          <a:xfrm>
            <a:off x="4929188" y="1875904"/>
            <a:ext cx="3429000" cy="428625"/>
          </a:xfrm>
          <a:prstGeom prst="rect">
            <a:avLst/>
          </a:prstGeom>
          <a:solidFill>
            <a:srgbClr val="1E293B"/>
          </a:solidFill>
          <a:ln/>
        </p:spPr>
      </p:sp>
      <p:sp>
        <p:nvSpPr>
          <p:cNvPr id="17" name="Text 14"/>
          <p:cNvSpPr/>
          <p:nvPr/>
        </p:nvSpPr>
        <p:spPr>
          <a:xfrm>
            <a:off x="4929188" y="1875904"/>
            <a:ext cx="3429000" cy="428625"/>
          </a:xfrm>
          <a:prstGeom prst="rect">
            <a:avLst/>
          </a:prstGeom>
          <a:noFill/>
          <a:ln/>
        </p:spPr>
        <p:txBody>
          <a:bodyPr wrap="square" lIns="170053" tIns="0" rIns="0" bIns="0" rtlCol="0" anchor="t">
            <a:spAutoFit/>
          </a:bodyPr>
          <a:lstStyle/>
          <a:p>
            <a:pPr algn="l" indent="0" marL="0">
              <a:buNone/>
            </a:pPr>
            <a:r>
              <a:rPr lang="en-US" sz="750" spc="1" kern="0" dirty="0">
                <a:solidFill>
                  <a:srgbClr val="FFFFFF"/>
                </a:solidFill>
                <a:latin typeface="Arial" pitchFamily="34" charset="0"/>
                <a:ea typeface="Arial" pitchFamily="34" charset="-122"/>
                <a:cs typeface="Arial" pitchFamily="34" charset="-120"/>
              </a:rPr>
              <a:t>STATION_MONITOR // v1.0</a:t>
            </a:r>
            <a:endParaRPr lang="en-US" sz="750" dirty="0"/>
          </a:p>
        </p:txBody>
      </p:sp>
      <p:sp>
        <p:nvSpPr>
          <p:cNvPr id="18" name="Shape 15"/>
          <p:cNvSpPr/>
          <p:nvPr/>
        </p:nvSpPr>
        <p:spPr>
          <a:xfrm>
            <a:off x="5143500" y="2518842"/>
            <a:ext cx="3000375" cy="571500"/>
          </a:xfrm>
          <a:prstGeom prst="rect">
            <a:avLst/>
          </a:prstGeom>
          <a:solidFill>
            <a:srgbClr val="F8FAFC"/>
          </a:solidFill>
          <a:ln w="9144">
            <a:solidFill>
              <a:srgbClr val="F1F5F9"/>
            </a:solidFill>
            <a:prstDash val="solid"/>
          </a:ln>
        </p:spPr>
      </p:sp>
      <p:sp>
        <p:nvSpPr>
          <p:cNvPr id="19" name="Text 16"/>
          <p:cNvSpPr/>
          <p:nvPr/>
        </p:nvSpPr>
        <p:spPr>
          <a:xfrm>
            <a:off x="5286375" y="2754585"/>
            <a:ext cx="857250" cy="100013"/>
          </a:xfrm>
          <a:prstGeom prst="rect">
            <a:avLst/>
          </a:prstGeom>
          <a:noFill/>
          <a:ln/>
        </p:spPr>
        <p:txBody>
          <a:bodyPr wrap="none" lIns="0" tIns="0" rIns="0" bIns="0" rtlCol="0" anchor="t">
            <a:spAutoFit/>
          </a:bodyPr>
          <a:lstStyle/>
          <a:p>
            <a:pPr algn="l" indent="0" marL="0">
              <a:buNone/>
            </a:pPr>
            <a:r>
              <a:rPr lang="en-US" sz="600" dirty="0">
                <a:solidFill>
                  <a:srgbClr val="64748B"/>
                </a:solidFill>
                <a:latin typeface="Arial" pitchFamily="34" charset="0"/>
                <a:ea typeface="Arial" pitchFamily="34" charset="-122"/>
                <a:cs typeface="Arial" pitchFamily="34" charset="-120"/>
              </a:rPr>
              <a:t>TEMPERATURE</a:t>
            </a:r>
            <a:endParaRPr lang="en-US" sz="600" dirty="0"/>
          </a:p>
        </p:txBody>
      </p:sp>
      <p:sp>
        <p:nvSpPr>
          <p:cNvPr id="20" name="Text 17"/>
          <p:cNvSpPr/>
          <p:nvPr/>
        </p:nvSpPr>
        <p:spPr>
          <a:xfrm>
            <a:off x="6143625" y="2688506"/>
            <a:ext cx="514406" cy="232172"/>
          </a:xfrm>
          <a:prstGeom prst="rect">
            <a:avLst/>
          </a:prstGeom>
          <a:noFill/>
          <a:ln/>
        </p:spPr>
        <p:txBody>
          <a:bodyPr wrap="none" lIns="0" tIns="0" rIns="0" bIns="0" rtlCol="0" anchor="t">
            <a:spAutoFit/>
          </a:bodyPr>
          <a:lstStyle/>
          <a:p>
            <a:pPr algn="l" indent="0" marL="0">
              <a:buNone/>
            </a:pPr>
            <a:r>
              <a:rPr lang="en-US" sz="1250" dirty="0">
                <a:solidFill>
                  <a:srgbClr val="94A3B8"/>
                </a:solidFill>
                <a:latin typeface="monospace" pitchFamily="34" charset="0"/>
                <a:ea typeface="monospace" pitchFamily="34" charset="-122"/>
                <a:cs typeface="monospace" pitchFamily="34" charset="-120"/>
              </a:rPr>
              <a:t>-- °C</a:t>
            </a:r>
            <a:endParaRPr lang="en-US" sz="1250" dirty="0"/>
          </a:p>
        </p:txBody>
      </p:sp>
      <p:sp>
        <p:nvSpPr>
          <p:cNvPr id="21" name="Shape 18"/>
          <p:cNvSpPr/>
          <p:nvPr/>
        </p:nvSpPr>
        <p:spPr>
          <a:xfrm>
            <a:off x="5143500" y="3233217"/>
            <a:ext cx="3000375" cy="571500"/>
          </a:xfrm>
          <a:prstGeom prst="rect">
            <a:avLst/>
          </a:prstGeom>
          <a:solidFill>
            <a:srgbClr val="F8FAFC"/>
          </a:solidFill>
          <a:ln w="9144">
            <a:solidFill>
              <a:srgbClr val="F1F5F9"/>
            </a:solidFill>
            <a:prstDash val="solid"/>
          </a:ln>
        </p:spPr>
      </p:sp>
      <p:sp>
        <p:nvSpPr>
          <p:cNvPr id="22" name="Text 19"/>
          <p:cNvSpPr/>
          <p:nvPr/>
        </p:nvSpPr>
        <p:spPr>
          <a:xfrm>
            <a:off x="5286375" y="3468960"/>
            <a:ext cx="857250" cy="100013"/>
          </a:xfrm>
          <a:prstGeom prst="rect">
            <a:avLst/>
          </a:prstGeom>
          <a:noFill/>
          <a:ln/>
        </p:spPr>
        <p:txBody>
          <a:bodyPr wrap="none" lIns="0" tIns="0" rIns="0" bIns="0" rtlCol="0" anchor="t">
            <a:spAutoFit/>
          </a:bodyPr>
          <a:lstStyle/>
          <a:p>
            <a:pPr algn="l" indent="0" marL="0">
              <a:buNone/>
            </a:pPr>
            <a:r>
              <a:rPr lang="en-US" sz="600" dirty="0">
                <a:solidFill>
                  <a:srgbClr val="64748B"/>
                </a:solidFill>
                <a:latin typeface="Arial" pitchFamily="34" charset="0"/>
                <a:ea typeface="Arial" pitchFamily="34" charset="-122"/>
                <a:cs typeface="Arial" pitchFamily="34" charset="-120"/>
              </a:rPr>
              <a:t>LIGHT LEVEL</a:t>
            </a:r>
            <a:endParaRPr lang="en-US" sz="600" dirty="0"/>
          </a:p>
        </p:txBody>
      </p:sp>
      <p:sp>
        <p:nvSpPr>
          <p:cNvPr id="23" name="Text 20"/>
          <p:cNvSpPr/>
          <p:nvPr/>
        </p:nvSpPr>
        <p:spPr>
          <a:xfrm>
            <a:off x="6143625" y="3402881"/>
            <a:ext cx="411491" cy="232172"/>
          </a:xfrm>
          <a:prstGeom prst="rect">
            <a:avLst/>
          </a:prstGeom>
          <a:noFill/>
          <a:ln/>
        </p:spPr>
        <p:txBody>
          <a:bodyPr wrap="none" lIns="0" tIns="0" rIns="0" bIns="0" rtlCol="0" anchor="t">
            <a:spAutoFit/>
          </a:bodyPr>
          <a:lstStyle/>
          <a:p>
            <a:pPr algn="l" indent="0" marL="0">
              <a:buNone/>
            </a:pPr>
            <a:r>
              <a:rPr lang="en-US" sz="1250" dirty="0">
                <a:solidFill>
                  <a:srgbClr val="94A3B8"/>
                </a:solidFill>
                <a:latin typeface="monospace" pitchFamily="34" charset="0"/>
                <a:ea typeface="monospace" pitchFamily="34" charset="-122"/>
                <a:cs typeface="monospace" pitchFamily="34" charset="-120"/>
              </a:rPr>
              <a:t>-- %</a:t>
            </a:r>
            <a:endParaRPr lang="en-US" sz="1250" dirty="0"/>
          </a:p>
        </p:txBody>
      </p:sp>
      <p:sp>
        <p:nvSpPr>
          <p:cNvPr id="24" name="Shape 21"/>
          <p:cNvSpPr/>
          <p:nvPr/>
        </p:nvSpPr>
        <p:spPr>
          <a:xfrm>
            <a:off x="5143500" y="3947592"/>
            <a:ext cx="3000375" cy="571500"/>
          </a:xfrm>
          <a:prstGeom prst="rect">
            <a:avLst/>
          </a:prstGeom>
          <a:solidFill>
            <a:srgbClr val="F8FAFC"/>
          </a:solidFill>
          <a:ln w="9144">
            <a:solidFill>
              <a:srgbClr val="F1F5F9"/>
            </a:solidFill>
            <a:prstDash val="solid"/>
          </a:ln>
        </p:spPr>
      </p:sp>
      <p:sp>
        <p:nvSpPr>
          <p:cNvPr id="25" name="Text 22"/>
          <p:cNvSpPr/>
          <p:nvPr/>
        </p:nvSpPr>
        <p:spPr>
          <a:xfrm>
            <a:off x="5286375" y="4183335"/>
            <a:ext cx="857250" cy="100013"/>
          </a:xfrm>
          <a:prstGeom prst="rect">
            <a:avLst/>
          </a:prstGeom>
          <a:noFill/>
          <a:ln/>
        </p:spPr>
        <p:txBody>
          <a:bodyPr wrap="none" lIns="0" tIns="0" rIns="0" bIns="0" rtlCol="0" anchor="t">
            <a:spAutoFit/>
          </a:bodyPr>
          <a:lstStyle/>
          <a:p>
            <a:pPr algn="l" indent="0" marL="0">
              <a:buNone/>
            </a:pPr>
            <a:r>
              <a:rPr lang="en-US" sz="600" dirty="0">
                <a:solidFill>
                  <a:srgbClr val="64748B"/>
                </a:solidFill>
                <a:latin typeface="Arial" pitchFamily="34" charset="0"/>
                <a:ea typeface="Arial" pitchFamily="34" charset="-122"/>
                <a:cs typeface="Arial" pitchFamily="34" charset="-120"/>
              </a:rPr>
              <a:t>SYSTEM LOG</a:t>
            </a:r>
            <a:endParaRPr lang="en-US" sz="600" dirty="0"/>
          </a:p>
        </p:txBody>
      </p:sp>
      <p:sp>
        <p:nvSpPr>
          <p:cNvPr id="26" name="Text 23"/>
          <p:cNvSpPr/>
          <p:nvPr/>
        </p:nvSpPr>
        <p:spPr>
          <a:xfrm>
            <a:off x="6143625" y="4117256"/>
            <a:ext cx="514406" cy="232172"/>
          </a:xfrm>
          <a:prstGeom prst="rect">
            <a:avLst/>
          </a:prstGeom>
          <a:noFill/>
          <a:ln/>
        </p:spPr>
        <p:txBody>
          <a:bodyPr wrap="none" lIns="0" tIns="0" rIns="0" bIns="0" rtlCol="0" anchor="t">
            <a:spAutoFit/>
          </a:bodyPr>
          <a:lstStyle/>
          <a:p>
            <a:pPr algn="l" indent="0" marL="0">
              <a:buNone/>
            </a:pPr>
            <a:r>
              <a:rPr lang="en-US" sz="1250" dirty="0">
                <a:solidFill>
                  <a:srgbClr val="94A3B8"/>
                </a:solidFill>
                <a:latin typeface="monospace" pitchFamily="34" charset="0"/>
                <a:ea typeface="monospace" pitchFamily="34" charset="-122"/>
                <a:cs typeface="monospace" pitchFamily="34" charset="-120"/>
              </a:rPr>
              <a:t>READY</a:t>
            </a:r>
            <a:endParaRPr lang="en-US" sz="1250" dirty="0"/>
          </a:p>
        </p:txBody>
      </p:sp>
      <p:sp>
        <p:nvSpPr>
          <p:cNvPr id="27" name="Text 24"/>
          <p:cNvSpPr/>
          <p:nvPr/>
        </p:nvSpPr>
        <p:spPr>
          <a:xfrm>
            <a:off x="5913909" y="4604147"/>
            <a:ext cx="2658591" cy="110728"/>
          </a:xfrm>
          <a:prstGeom prst="rect">
            <a:avLst/>
          </a:prstGeom>
          <a:noFill/>
          <a:ln/>
        </p:spPr>
        <p:txBody>
          <a:bodyPr wrap="square" lIns="0" tIns="0" rIns="0" bIns="0" rtlCol="0" anchor="t">
            <a:spAutoFit/>
          </a:bodyPr>
          <a:lstStyle/>
          <a:p>
            <a:pPr algn="l" indent="0" marL="0">
              <a:buNone/>
            </a:pPr>
            <a:r>
              <a:rPr lang="en-US" sz="650" spc="2" kern="0" dirty="0">
                <a:solidFill>
                  <a:srgbClr val="94A3B8"/>
                </a:solidFill>
                <a:latin typeface="Arial" pitchFamily="34" charset="0"/>
                <a:ea typeface="Arial" pitchFamily="34" charset="-122"/>
                <a:cs typeface="Arial" pitchFamily="34" charset="-120"/>
              </a:rPr>
              <a:t>DESIGNED FOR CLEAR STATES, NOT CLUTTER</a:t>
            </a:r>
            <a:endParaRPr lang="en-US" sz="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1285875" y="571500"/>
            <a:ext cx="3000375" cy="121444"/>
          </a:xfrm>
          <a:prstGeom prst="rect">
            <a:avLst/>
          </a:prstGeom>
          <a:noFill/>
          <a:ln/>
        </p:spPr>
        <p:txBody>
          <a:bodyPr wrap="square" lIns="0" tIns="0" rIns="0" bIns="0" rtlCol="0" anchor="t">
            <a:spAutoFit/>
          </a:bodyPr>
          <a:lstStyle/>
          <a:p>
            <a:pPr algn="l" indent="0" marL="0">
              <a:buNone/>
            </a:pPr>
            <a:r>
              <a:rPr lang="en-US" sz="750" b="1" spc="2" kern="0" dirty="0">
                <a:solidFill>
                  <a:srgbClr val="2563EB"/>
                </a:solidFill>
                <a:latin typeface="Arial" pitchFamily="34" charset="0"/>
                <a:ea typeface="Arial" pitchFamily="34" charset="-122"/>
                <a:cs typeface="Arial" pitchFamily="34" charset="-120"/>
              </a:rPr>
              <a:t>05 / SYSTEM DESIGN</a:t>
            </a:r>
            <a:endParaRPr lang="en-US" sz="750" dirty="0"/>
          </a:p>
        </p:txBody>
      </p:sp>
      <p:sp>
        <p:nvSpPr>
          <p:cNvPr id="4" name="Text 1"/>
          <p:cNvSpPr/>
          <p:nvPr/>
        </p:nvSpPr>
        <p:spPr>
          <a:xfrm>
            <a:off x="1285875" y="835819"/>
            <a:ext cx="3000375" cy="990023"/>
          </a:xfrm>
          <a:prstGeom prst="rect">
            <a:avLst/>
          </a:prstGeom>
          <a:noFill/>
          <a:ln/>
        </p:spPr>
        <p:txBody>
          <a:bodyPr wrap="square" lIns="0" tIns="0" rIns="0" bIns="0" rtlCol="0" anchor="t">
            <a:spAutoFit/>
          </a:bodyPr>
          <a:lstStyle/>
          <a:p>
            <a:pPr algn="l" indent="0" marL="0">
              <a:lnSpc>
                <a:spcPct val="88000"/>
              </a:lnSpc>
              <a:buNone/>
            </a:pPr>
            <a:r>
              <a:rPr lang="en-US" sz="2250" dirty="0">
                <a:solidFill>
                  <a:srgbClr val="1E293B"/>
                </a:solidFill>
                <a:latin typeface="Georgia" pitchFamily="34" charset="0"/>
                <a:ea typeface="Georgia" pitchFamily="34" charset="-122"/>
                <a:cs typeface="Georgia" pitchFamily="34" charset="-120"/>
              </a:rPr>
              <a:t>A layered architecture keeps the system maintainable</a:t>
            </a:r>
            <a:endParaRPr lang="en-US" sz="2250" dirty="0"/>
          </a:p>
        </p:txBody>
      </p:sp>
      <p:sp>
        <p:nvSpPr>
          <p:cNvPr id="5" name="Text 2"/>
          <p:cNvSpPr/>
          <p:nvPr/>
        </p:nvSpPr>
        <p:spPr>
          <a:xfrm>
            <a:off x="1285875" y="2040155"/>
            <a:ext cx="3000375" cy="1028588"/>
          </a:xfrm>
          <a:prstGeom prst="rect">
            <a:avLst/>
          </a:prstGeom>
          <a:noFill/>
          <a:ln/>
        </p:spPr>
        <p:txBody>
          <a:bodyPr wrap="square" lIns="0" tIns="0" rIns="0" bIns="0" rtlCol="0" anchor="t">
            <a:spAutoFit/>
          </a:bodyPr>
          <a:lstStyle/>
          <a:p>
            <a:pPr algn="l" indent="0" marL="0">
              <a:lnSpc>
                <a:spcPct val="128000"/>
              </a:lnSpc>
              <a:buNone/>
            </a:pPr>
            <a:r>
              <a:rPr lang="en-US" sz="950" dirty="0">
                <a:solidFill>
                  <a:srgbClr val="475569"/>
                </a:solidFill>
                <a:latin typeface="Arial" pitchFamily="34" charset="0"/>
                <a:ea typeface="Arial" pitchFamily="34" charset="-122"/>
                <a:cs typeface="Arial" pitchFamily="34" charset="-120"/>
              </a:rPr>
              <a:t>Separating responsibilities makes the project easier to test, explain, and extend. Our structure follows professional embedded standards, ensuring that high-level logic remains independent of specific hardware registers.</a:t>
            </a:r>
            <a:endParaRPr lang="en-US" sz="950" dirty="0"/>
          </a:p>
        </p:txBody>
      </p:sp>
      <p:sp>
        <p:nvSpPr>
          <p:cNvPr id="6" name="Shape 3"/>
          <p:cNvSpPr/>
          <p:nvPr/>
        </p:nvSpPr>
        <p:spPr>
          <a:xfrm>
            <a:off x="4857750" y="714375"/>
            <a:ext cx="3571875" cy="857250"/>
          </a:xfrm>
          <a:prstGeom prst="rect">
            <a:avLst/>
          </a:prstGeom>
          <a:solidFill>
            <a:srgbClr val="FFFFFF"/>
          </a:solidFill>
          <a:ln/>
        </p:spPr>
      </p:sp>
      <p:sp>
        <p:nvSpPr>
          <p:cNvPr id="7" name="Shape 4"/>
          <p:cNvSpPr/>
          <p:nvPr/>
        </p:nvSpPr>
        <p:spPr>
          <a:xfrm>
            <a:off x="4857750" y="714375"/>
            <a:ext cx="3571875" cy="7144"/>
          </a:xfrm>
          <a:prstGeom prst="rect">
            <a:avLst/>
          </a:prstGeom>
          <a:solidFill>
            <a:srgbClr val="CBD5E1"/>
          </a:solidFill>
          <a:ln/>
        </p:spPr>
      </p:sp>
      <p:sp>
        <p:nvSpPr>
          <p:cNvPr id="8" name="Shape 5"/>
          <p:cNvSpPr/>
          <p:nvPr/>
        </p:nvSpPr>
        <p:spPr>
          <a:xfrm>
            <a:off x="8422481" y="714375"/>
            <a:ext cx="7144" cy="857250"/>
          </a:xfrm>
          <a:prstGeom prst="rect">
            <a:avLst/>
          </a:prstGeom>
          <a:solidFill>
            <a:srgbClr val="CBD5E1"/>
          </a:solidFill>
          <a:ln/>
        </p:spPr>
      </p:sp>
      <p:sp>
        <p:nvSpPr>
          <p:cNvPr id="9" name="Shape 6"/>
          <p:cNvSpPr/>
          <p:nvPr/>
        </p:nvSpPr>
        <p:spPr>
          <a:xfrm>
            <a:off x="4857750" y="1564481"/>
            <a:ext cx="3571875" cy="7144"/>
          </a:xfrm>
          <a:prstGeom prst="rect">
            <a:avLst/>
          </a:prstGeom>
          <a:solidFill>
            <a:srgbClr val="CBD5E1"/>
          </a:solidFill>
          <a:ln/>
        </p:spPr>
      </p:sp>
      <p:sp>
        <p:nvSpPr>
          <p:cNvPr id="10" name="Shape 7"/>
          <p:cNvSpPr/>
          <p:nvPr/>
        </p:nvSpPr>
        <p:spPr>
          <a:xfrm>
            <a:off x="4857750" y="714375"/>
            <a:ext cx="57150" cy="857250"/>
          </a:xfrm>
          <a:prstGeom prst="rect">
            <a:avLst/>
          </a:prstGeom>
          <a:solidFill>
            <a:srgbClr val="2563EB"/>
          </a:solidFill>
          <a:ln/>
        </p:spPr>
      </p:sp>
      <p:sp>
        <p:nvSpPr>
          <p:cNvPr id="11" name="Text 8"/>
          <p:cNvSpPr/>
          <p:nvPr/>
        </p:nvSpPr>
        <p:spPr>
          <a:xfrm>
            <a:off x="4857750" y="714375"/>
            <a:ext cx="3571875" cy="289322"/>
          </a:xfrm>
          <a:prstGeom prst="rect">
            <a:avLst/>
          </a:prstGeom>
          <a:noFill/>
          <a:ln/>
        </p:spPr>
        <p:txBody>
          <a:bodyPr wrap="square" lIns="170053" tIns="127508" rIns="0" bIns="0" rtlCol="0" anchor="t">
            <a:spAutoFit/>
          </a:bodyPr>
          <a:lstStyle/>
          <a:p>
            <a:pPr algn="l" indent="0" marL="0">
              <a:buNone/>
            </a:pPr>
            <a:r>
              <a:rPr lang="en-US" sz="1150" dirty="0">
                <a:solidFill>
                  <a:srgbClr val="1E293B"/>
                </a:solidFill>
                <a:latin typeface="Georgia" pitchFamily="34" charset="0"/>
                <a:ea typeface="Georgia" pitchFamily="34" charset="-122"/>
                <a:cs typeface="Georgia" pitchFamily="34" charset="-120"/>
              </a:rPr>
              <a:t>Application Layer (APP)</a:t>
            </a:r>
            <a:endParaRPr lang="en-US" sz="1150" dirty="0"/>
          </a:p>
        </p:txBody>
      </p:sp>
      <p:sp>
        <p:nvSpPr>
          <p:cNvPr id="12" name="Text 9"/>
          <p:cNvSpPr/>
          <p:nvPr/>
        </p:nvSpPr>
        <p:spPr>
          <a:xfrm>
            <a:off x="4857750" y="1003697"/>
            <a:ext cx="3571875" cy="458539"/>
          </a:xfrm>
          <a:prstGeom prst="rect">
            <a:avLst/>
          </a:prstGeom>
          <a:noFill/>
          <a:ln/>
        </p:spPr>
        <p:txBody>
          <a:bodyPr wrap="square" lIns="170053" tIns="85090" rIns="0" bIns="127508" rtlCol="0" anchor="t">
            <a:spAutoFit/>
          </a:bodyPr>
          <a:lstStyle/>
          <a:p>
            <a:pPr algn="l" indent="0" marL="0">
              <a:lnSpc>
                <a:spcPct val="112000"/>
              </a:lnSpc>
              <a:buNone/>
            </a:pPr>
            <a:r>
              <a:rPr lang="en-US" sz="750" dirty="0">
                <a:solidFill>
                  <a:srgbClr val="64748B"/>
                </a:solidFill>
                <a:latin typeface="Arial" pitchFamily="34" charset="0"/>
                <a:ea typeface="Arial" pitchFamily="34" charset="-122"/>
                <a:cs typeface="Arial" pitchFamily="34" charset="-120"/>
              </a:rPr>
              <a:t>Coordinates sampling, alarm logic, logging, display updates, and serial commands.</a:t>
            </a:r>
            <a:endParaRPr lang="en-US" sz="750" dirty="0"/>
          </a:p>
        </p:txBody>
      </p:sp>
      <p:sp>
        <p:nvSpPr>
          <p:cNvPr id="13" name="Shape 10"/>
          <p:cNvSpPr/>
          <p:nvPr/>
        </p:nvSpPr>
        <p:spPr>
          <a:xfrm>
            <a:off x="4857750" y="1643063"/>
            <a:ext cx="3571875" cy="857250"/>
          </a:xfrm>
          <a:prstGeom prst="rect">
            <a:avLst/>
          </a:prstGeom>
          <a:solidFill>
            <a:srgbClr val="FFFFFF"/>
          </a:solidFill>
          <a:ln/>
        </p:spPr>
      </p:sp>
      <p:sp>
        <p:nvSpPr>
          <p:cNvPr id="14" name="Shape 11"/>
          <p:cNvSpPr/>
          <p:nvPr/>
        </p:nvSpPr>
        <p:spPr>
          <a:xfrm>
            <a:off x="4857750" y="1643063"/>
            <a:ext cx="3571875" cy="7144"/>
          </a:xfrm>
          <a:prstGeom prst="rect">
            <a:avLst/>
          </a:prstGeom>
          <a:solidFill>
            <a:srgbClr val="CBD5E1"/>
          </a:solidFill>
          <a:ln/>
        </p:spPr>
      </p:sp>
      <p:sp>
        <p:nvSpPr>
          <p:cNvPr id="15" name="Shape 12"/>
          <p:cNvSpPr/>
          <p:nvPr/>
        </p:nvSpPr>
        <p:spPr>
          <a:xfrm>
            <a:off x="8422481" y="1643063"/>
            <a:ext cx="7144" cy="857250"/>
          </a:xfrm>
          <a:prstGeom prst="rect">
            <a:avLst/>
          </a:prstGeom>
          <a:solidFill>
            <a:srgbClr val="CBD5E1"/>
          </a:solidFill>
          <a:ln/>
        </p:spPr>
      </p:sp>
      <p:sp>
        <p:nvSpPr>
          <p:cNvPr id="16" name="Shape 13"/>
          <p:cNvSpPr/>
          <p:nvPr/>
        </p:nvSpPr>
        <p:spPr>
          <a:xfrm>
            <a:off x="4857750" y="2493169"/>
            <a:ext cx="3571875" cy="7144"/>
          </a:xfrm>
          <a:prstGeom prst="rect">
            <a:avLst/>
          </a:prstGeom>
          <a:solidFill>
            <a:srgbClr val="CBD5E1"/>
          </a:solidFill>
          <a:ln/>
        </p:spPr>
      </p:sp>
      <p:sp>
        <p:nvSpPr>
          <p:cNvPr id="17" name="Shape 14"/>
          <p:cNvSpPr/>
          <p:nvPr/>
        </p:nvSpPr>
        <p:spPr>
          <a:xfrm>
            <a:off x="4857750" y="1643063"/>
            <a:ext cx="57150" cy="857250"/>
          </a:xfrm>
          <a:prstGeom prst="rect">
            <a:avLst/>
          </a:prstGeom>
          <a:solidFill>
            <a:srgbClr val="3B82F6"/>
          </a:solidFill>
          <a:ln/>
        </p:spPr>
      </p:sp>
      <p:sp>
        <p:nvSpPr>
          <p:cNvPr id="18" name="Text 15"/>
          <p:cNvSpPr/>
          <p:nvPr/>
        </p:nvSpPr>
        <p:spPr>
          <a:xfrm>
            <a:off x="4857750" y="1643063"/>
            <a:ext cx="3571875" cy="289322"/>
          </a:xfrm>
          <a:prstGeom prst="rect">
            <a:avLst/>
          </a:prstGeom>
          <a:noFill/>
          <a:ln/>
        </p:spPr>
        <p:txBody>
          <a:bodyPr wrap="square" lIns="170053" tIns="127508" rIns="0" bIns="0" rtlCol="0" anchor="t">
            <a:spAutoFit/>
          </a:bodyPr>
          <a:lstStyle/>
          <a:p>
            <a:pPr algn="l" indent="0" marL="0">
              <a:buNone/>
            </a:pPr>
            <a:r>
              <a:rPr lang="en-US" sz="1150" dirty="0">
                <a:solidFill>
                  <a:srgbClr val="1E293B"/>
                </a:solidFill>
                <a:latin typeface="Georgia" pitchFamily="34" charset="0"/>
                <a:ea typeface="Georgia" pitchFamily="34" charset="-122"/>
                <a:cs typeface="Georgia" pitchFamily="34" charset="-120"/>
              </a:rPr>
              <a:t>Hardware Abstraction Layer (HAL)</a:t>
            </a:r>
            <a:endParaRPr lang="en-US" sz="1150" dirty="0"/>
          </a:p>
        </p:txBody>
      </p:sp>
      <p:sp>
        <p:nvSpPr>
          <p:cNvPr id="19" name="Text 16"/>
          <p:cNvSpPr/>
          <p:nvPr/>
        </p:nvSpPr>
        <p:spPr>
          <a:xfrm>
            <a:off x="4857750" y="1932384"/>
            <a:ext cx="3571875" cy="458539"/>
          </a:xfrm>
          <a:prstGeom prst="rect">
            <a:avLst/>
          </a:prstGeom>
          <a:noFill/>
          <a:ln/>
        </p:spPr>
        <p:txBody>
          <a:bodyPr wrap="square" lIns="170053" tIns="85090" rIns="0" bIns="127508" rtlCol="0" anchor="t">
            <a:spAutoFit/>
          </a:bodyPr>
          <a:lstStyle/>
          <a:p>
            <a:pPr algn="l" indent="0" marL="0">
              <a:lnSpc>
                <a:spcPct val="112000"/>
              </a:lnSpc>
              <a:buNone/>
            </a:pPr>
            <a:r>
              <a:rPr lang="en-US" sz="750" dirty="0">
                <a:solidFill>
                  <a:srgbClr val="64748B"/>
                </a:solidFill>
                <a:latin typeface="Arial" pitchFamily="34" charset="0"/>
                <a:ea typeface="Arial" pitchFamily="34" charset="-122"/>
                <a:cs typeface="Arial" pitchFamily="34" charset="-120"/>
              </a:rPr>
              <a:t>Provides reusable drivers for the LCD, LM35 Temperature Sensor, LDR, and Buzzer.</a:t>
            </a:r>
            <a:endParaRPr lang="en-US" sz="750" dirty="0"/>
          </a:p>
        </p:txBody>
      </p:sp>
      <p:sp>
        <p:nvSpPr>
          <p:cNvPr id="20" name="Shape 17"/>
          <p:cNvSpPr/>
          <p:nvPr/>
        </p:nvSpPr>
        <p:spPr>
          <a:xfrm>
            <a:off x="4857750" y="2571750"/>
            <a:ext cx="3571875" cy="857250"/>
          </a:xfrm>
          <a:prstGeom prst="rect">
            <a:avLst/>
          </a:prstGeom>
          <a:solidFill>
            <a:srgbClr val="FFFFFF"/>
          </a:solidFill>
          <a:ln/>
        </p:spPr>
      </p:sp>
      <p:sp>
        <p:nvSpPr>
          <p:cNvPr id="21" name="Shape 18"/>
          <p:cNvSpPr/>
          <p:nvPr/>
        </p:nvSpPr>
        <p:spPr>
          <a:xfrm>
            <a:off x="4857750" y="2571750"/>
            <a:ext cx="3571875" cy="7144"/>
          </a:xfrm>
          <a:prstGeom prst="rect">
            <a:avLst/>
          </a:prstGeom>
          <a:solidFill>
            <a:srgbClr val="CBD5E1"/>
          </a:solidFill>
          <a:ln/>
        </p:spPr>
      </p:sp>
      <p:sp>
        <p:nvSpPr>
          <p:cNvPr id="22" name="Shape 19"/>
          <p:cNvSpPr/>
          <p:nvPr/>
        </p:nvSpPr>
        <p:spPr>
          <a:xfrm>
            <a:off x="8422481" y="2571750"/>
            <a:ext cx="7144" cy="857250"/>
          </a:xfrm>
          <a:prstGeom prst="rect">
            <a:avLst/>
          </a:prstGeom>
          <a:solidFill>
            <a:srgbClr val="CBD5E1"/>
          </a:solidFill>
          <a:ln/>
        </p:spPr>
      </p:sp>
      <p:sp>
        <p:nvSpPr>
          <p:cNvPr id="23" name="Shape 20"/>
          <p:cNvSpPr/>
          <p:nvPr/>
        </p:nvSpPr>
        <p:spPr>
          <a:xfrm>
            <a:off x="4857750" y="3421856"/>
            <a:ext cx="3571875" cy="7144"/>
          </a:xfrm>
          <a:prstGeom prst="rect">
            <a:avLst/>
          </a:prstGeom>
          <a:solidFill>
            <a:srgbClr val="CBD5E1"/>
          </a:solidFill>
          <a:ln/>
        </p:spPr>
      </p:sp>
      <p:sp>
        <p:nvSpPr>
          <p:cNvPr id="24" name="Shape 21"/>
          <p:cNvSpPr/>
          <p:nvPr/>
        </p:nvSpPr>
        <p:spPr>
          <a:xfrm>
            <a:off x="4857750" y="2571750"/>
            <a:ext cx="57150" cy="857250"/>
          </a:xfrm>
          <a:prstGeom prst="rect">
            <a:avLst/>
          </a:prstGeom>
          <a:solidFill>
            <a:srgbClr val="60A5FA"/>
          </a:solidFill>
          <a:ln/>
        </p:spPr>
      </p:sp>
      <p:sp>
        <p:nvSpPr>
          <p:cNvPr id="25" name="Text 22"/>
          <p:cNvSpPr/>
          <p:nvPr/>
        </p:nvSpPr>
        <p:spPr>
          <a:xfrm>
            <a:off x="4857750" y="2571750"/>
            <a:ext cx="3571875" cy="289322"/>
          </a:xfrm>
          <a:prstGeom prst="rect">
            <a:avLst/>
          </a:prstGeom>
          <a:noFill/>
          <a:ln/>
        </p:spPr>
        <p:txBody>
          <a:bodyPr wrap="square" lIns="170053" tIns="127508" rIns="0" bIns="0" rtlCol="0" anchor="t">
            <a:spAutoFit/>
          </a:bodyPr>
          <a:lstStyle/>
          <a:p>
            <a:pPr algn="l" indent="0" marL="0">
              <a:buNone/>
            </a:pPr>
            <a:r>
              <a:rPr lang="en-US" sz="1150" dirty="0">
                <a:solidFill>
                  <a:srgbClr val="1E293B"/>
                </a:solidFill>
                <a:latin typeface="Georgia" pitchFamily="34" charset="0"/>
                <a:ea typeface="Georgia" pitchFamily="34" charset="-122"/>
                <a:cs typeface="Georgia" pitchFamily="34" charset="-120"/>
              </a:rPr>
              <a:t>Microcontroller Abstraction Layer (MCAL)</a:t>
            </a:r>
            <a:endParaRPr lang="en-US" sz="1150" dirty="0"/>
          </a:p>
        </p:txBody>
      </p:sp>
      <p:sp>
        <p:nvSpPr>
          <p:cNvPr id="26" name="Text 23"/>
          <p:cNvSpPr/>
          <p:nvPr/>
        </p:nvSpPr>
        <p:spPr>
          <a:xfrm>
            <a:off x="4857750" y="2861072"/>
            <a:ext cx="3571875" cy="318567"/>
          </a:xfrm>
          <a:prstGeom prst="rect">
            <a:avLst/>
          </a:prstGeom>
          <a:noFill/>
          <a:ln/>
        </p:spPr>
        <p:txBody>
          <a:bodyPr wrap="square" lIns="170053" tIns="85090" rIns="0" bIns="127508" rtlCol="0" anchor="t">
            <a:spAutoFit/>
          </a:bodyPr>
          <a:lstStyle/>
          <a:p>
            <a:pPr algn="l" indent="0" marL="0">
              <a:lnSpc>
                <a:spcPct val="112000"/>
              </a:lnSpc>
              <a:buNone/>
            </a:pPr>
            <a:r>
              <a:rPr lang="en-US" sz="750" dirty="0">
                <a:solidFill>
                  <a:srgbClr val="64748B"/>
                </a:solidFill>
                <a:latin typeface="Arial" pitchFamily="34" charset="0"/>
                <a:ea typeface="Arial" pitchFamily="34" charset="-122"/>
                <a:cs typeface="Arial" pitchFamily="34" charset="-120"/>
              </a:rPr>
              <a:t>Manages Digital I/O, ADC, Timers, EEPROM, UART, and External Interrupts.</a:t>
            </a:r>
            <a:endParaRPr lang="en-US" sz="750" dirty="0"/>
          </a:p>
        </p:txBody>
      </p:sp>
      <p:sp>
        <p:nvSpPr>
          <p:cNvPr id="27" name="Shape 24"/>
          <p:cNvSpPr/>
          <p:nvPr/>
        </p:nvSpPr>
        <p:spPr>
          <a:xfrm>
            <a:off x="4857750" y="3571875"/>
            <a:ext cx="3571875" cy="714375"/>
          </a:xfrm>
          <a:prstGeom prst="rect">
            <a:avLst/>
          </a:prstGeom>
          <a:solidFill>
            <a:srgbClr val="F1F5F9"/>
          </a:solidFill>
          <a:ln/>
        </p:spPr>
      </p:sp>
      <p:sp>
        <p:nvSpPr>
          <p:cNvPr id="28" name="Shape 25"/>
          <p:cNvSpPr/>
          <p:nvPr/>
        </p:nvSpPr>
        <p:spPr>
          <a:xfrm>
            <a:off x="4857750" y="3571875"/>
            <a:ext cx="3571875" cy="7144"/>
          </a:xfrm>
          <a:prstGeom prst="rect">
            <a:avLst/>
          </a:prstGeom>
          <a:solidFill>
            <a:srgbClr val="CBD5E1"/>
          </a:solidFill>
          <a:ln/>
        </p:spPr>
      </p:sp>
      <p:sp>
        <p:nvSpPr>
          <p:cNvPr id="29" name="Shape 26"/>
          <p:cNvSpPr/>
          <p:nvPr/>
        </p:nvSpPr>
        <p:spPr>
          <a:xfrm>
            <a:off x="8422481" y="3571875"/>
            <a:ext cx="7144" cy="714375"/>
          </a:xfrm>
          <a:prstGeom prst="rect">
            <a:avLst/>
          </a:prstGeom>
          <a:solidFill>
            <a:srgbClr val="CBD5E1"/>
          </a:solidFill>
          <a:ln/>
        </p:spPr>
      </p:sp>
      <p:sp>
        <p:nvSpPr>
          <p:cNvPr id="30" name="Shape 27"/>
          <p:cNvSpPr/>
          <p:nvPr/>
        </p:nvSpPr>
        <p:spPr>
          <a:xfrm>
            <a:off x="4857750" y="4279106"/>
            <a:ext cx="3571875" cy="7144"/>
          </a:xfrm>
          <a:prstGeom prst="rect">
            <a:avLst/>
          </a:prstGeom>
          <a:solidFill>
            <a:srgbClr val="CBD5E1"/>
          </a:solidFill>
          <a:ln/>
        </p:spPr>
      </p:sp>
      <p:sp>
        <p:nvSpPr>
          <p:cNvPr id="31" name="Shape 28"/>
          <p:cNvSpPr/>
          <p:nvPr/>
        </p:nvSpPr>
        <p:spPr>
          <a:xfrm>
            <a:off x="4857750" y="3571875"/>
            <a:ext cx="57150" cy="714375"/>
          </a:xfrm>
          <a:prstGeom prst="rect">
            <a:avLst/>
          </a:prstGeom>
          <a:solidFill>
            <a:srgbClr val="94A3B8"/>
          </a:solidFill>
          <a:ln/>
        </p:spPr>
      </p:sp>
      <p:sp>
        <p:nvSpPr>
          <p:cNvPr id="32" name="Text 29"/>
          <p:cNvSpPr/>
          <p:nvPr/>
        </p:nvSpPr>
        <p:spPr>
          <a:xfrm>
            <a:off x="4857750" y="3571875"/>
            <a:ext cx="3571875" cy="289322"/>
          </a:xfrm>
          <a:prstGeom prst="rect">
            <a:avLst/>
          </a:prstGeom>
          <a:noFill/>
          <a:ln/>
        </p:spPr>
        <p:txBody>
          <a:bodyPr wrap="square" lIns="170053" tIns="127508" rIns="0" bIns="0" rtlCol="0" anchor="t">
            <a:spAutoFit/>
          </a:bodyPr>
          <a:lstStyle/>
          <a:p>
            <a:pPr algn="l" indent="0" marL="0">
              <a:buNone/>
            </a:pPr>
            <a:r>
              <a:rPr lang="en-US" sz="1150" dirty="0">
                <a:solidFill>
                  <a:srgbClr val="1E293B"/>
                </a:solidFill>
                <a:latin typeface="Georgia" pitchFamily="34" charset="0"/>
                <a:ea typeface="Georgia" pitchFamily="34" charset="-122"/>
                <a:cs typeface="Georgia" pitchFamily="34" charset="-120"/>
              </a:rPr>
              <a:t>Common Definitions</a:t>
            </a:r>
            <a:endParaRPr lang="en-US" sz="1150" dirty="0"/>
          </a:p>
        </p:txBody>
      </p:sp>
      <p:sp>
        <p:nvSpPr>
          <p:cNvPr id="33" name="Text 30"/>
          <p:cNvSpPr/>
          <p:nvPr/>
        </p:nvSpPr>
        <p:spPr>
          <a:xfrm>
            <a:off x="4857750" y="3861197"/>
            <a:ext cx="3571875" cy="458539"/>
          </a:xfrm>
          <a:prstGeom prst="rect">
            <a:avLst/>
          </a:prstGeom>
          <a:noFill/>
          <a:ln/>
        </p:spPr>
        <p:txBody>
          <a:bodyPr wrap="square" lIns="170053" tIns="85090" rIns="0" bIns="127508" rtlCol="0" anchor="t">
            <a:spAutoFit/>
          </a:bodyPr>
          <a:lstStyle/>
          <a:p>
            <a:pPr algn="l" indent="0" marL="0">
              <a:lnSpc>
                <a:spcPct val="112000"/>
              </a:lnSpc>
              <a:buNone/>
            </a:pPr>
            <a:r>
              <a:rPr lang="en-US" sz="750" dirty="0">
                <a:solidFill>
                  <a:srgbClr val="64748B"/>
                </a:solidFill>
                <a:latin typeface="Arial" pitchFamily="34" charset="0"/>
                <a:ea typeface="Arial" pitchFamily="34" charset="-122"/>
                <a:cs typeface="Arial" pitchFamily="34" charset="-120"/>
              </a:rPr>
              <a:t>Centralizes shared types and constants to maintain consistency across all modules.</a:t>
            </a:r>
            <a:endParaRPr lang="en-US" sz="750" dirty="0"/>
          </a:p>
        </p:txBody>
      </p:sp>
      <p:sp>
        <p:nvSpPr>
          <p:cNvPr id="34" name="Text 31"/>
          <p:cNvSpPr/>
          <p:nvPr/>
        </p:nvSpPr>
        <p:spPr>
          <a:xfrm>
            <a:off x="1285875" y="4604147"/>
            <a:ext cx="2662665" cy="110728"/>
          </a:xfrm>
          <a:prstGeom prst="rect">
            <a:avLst/>
          </a:prstGeom>
          <a:noFill/>
          <a:ln/>
        </p:spPr>
        <p:txBody>
          <a:bodyPr wrap="square" lIns="0" tIns="0" rIns="0" bIns="0" rtlCol="0" anchor="t">
            <a:spAutoFit/>
          </a:bodyPr>
          <a:lstStyle/>
          <a:p>
            <a:pPr algn="l" indent="0" marL="0">
              <a:buNone/>
            </a:pPr>
            <a:r>
              <a:rPr lang="en-US" sz="650" spc="2" kern="0" dirty="0">
                <a:solidFill>
                  <a:srgbClr val="94A3B8"/>
                </a:solidFill>
                <a:latin typeface="Arial" pitchFamily="34" charset="0"/>
                <a:ea typeface="Arial" pitchFamily="34" charset="-122"/>
                <a:cs typeface="Arial" pitchFamily="34" charset="-120"/>
              </a:rPr>
              <a:t>PROFESSIONAL EMBEDDED SOFTWARE STACK</a:t>
            </a:r>
            <a:endParaRPr lang="en-US" sz="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1285875" y="571500"/>
            <a:ext cx="7143750" cy="121444"/>
          </a:xfrm>
          <a:prstGeom prst="rect">
            <a:avLst/>
          </a:prstGeom>
          <a:noFill/>
          <a:ln/>
        </p:spPr>
        <p:txBody>
          <a:bodyPr wrap="square" lIns="0" tIns="0" rIns="0" bIns="0" rtlCol="0" anchor="t">
            <a:spAutoFit/>
          </a:bodyPr>
          <a:lstStyle/>
          <a:p>
            <a:pPr algn="l" indent="0" marL="0">
              <a:buNone/>
            </a:pPr>
            <a:r>
              <a:rPr lang="en-US" sz="750" b="1" spc="2" kern="0" dirty="0">
                <a:solidFill>
                  <a:srgbClr val="2563EB"/>
                </a:solidFill>
                <a:latin typeface="Arial" pitchFamily="34" charset="0"/>
                <a:ea typeface="Arial" pitchFamily="34" charset="-122"/>
                <a:cs typeface="Arial" pitchFamily="34" charset="-120"/>
              </a:rPr>
              <a:t>06 / SYSTEM ARCHITECTURE</a:t>
            </a:r>
            <a:endParaRPr lang="en-US" sz="750" dirty="0"/>
          </a:p>
        </p:txBody>
      </p:sp>
      <p:sp>
        <p:nvSpPr>
          <p:cNvPr id="4" name="Text 1"/>
          <p:cNvSpPr/>
          <p:nvPr/>
        </p:nvSpPr>
        <p:spPr>
          <a:xfrm>
            <a:off x="1285875" y="835819"/>
            <a:ext cx="7143750" cy="330008"/>
          </a:xfrm>
          <a:prstGeom prst="rect">
            <a:avLst/>
          </a:prstGeom>
          <a:noFill/>
          <a:ln/>
        </p:spPr>
        <p:txBody>
          <a:bodyPr wrap="none" lIns="0" tIns="0" rIns="0" bIns="0" rtlCol="0" anchor="t">
            <a:spAutoFit/>
          </a:bodyPr>
          <a:lstStyle/>
          <a:p>
            <a:pPr algn="l" indent="0" marL="0">
              <a:lnSpc>
                <a:spcPct val="88000"/>
              </a:lnSpc>
              <a:buNone/>
            </a:pPr>
            <a:r>
              <a:rPr lang="en-US" sz="2250" dirty="0">
                <a:solidFill>
                  <a:srgbClr val="1E293B"/>
                </a:solidFill>
                <a:latin typeface="Georgia" pitchFamily="34" charset="0"/>
                <a:ea typeface="Georgia" pitchFamily="34" charset="-122"/>
                <a:cs typeface="Georgia" pitchFamily="34" charset="-120"/>
              </a:rPr>
              <a:t>The data path is short, explicit, and dependable</a:t>
            </a:r>
            <a:endParaRPr lang="en-US" sz="2250" dirty="0"/>
          </a:p>
        </p:txBody>
      </p:sp>
      <p:sp>
        <p:nvSpPr>
          <p:cNvPr id="5" name="Shape 2"/>
          <p:cNvSpPr/>
          <p:nvPr/>
        </p:nvSpPr>
        <p:spPr>
          <a:xfrm>
            <a:off x="1285875" y="1594452"/>
            <a:ext cx="428625" cy="428625"/>
          </a:xfrm>
          <a:prstGeom prst="ellipse">
            <a:avLst/>
          </a:prstGeom>
          <a:solidFill>
            <a:srgbClr val="FFFFFF"/>
          </a:solidFill>
          <a:ln w="18288">
            <a:solidFill>
              <a:srgbClr val="2563EB"/>
            </a:solidFill>
            <a:prstDash val="solid"/>
          </a:ln>
        </p:spPr>
      </p:sp>
      <p:pic>
        <p:nvPicPr>
          <p:cNvPr id="6" name="Image 1" descr="preencoded.png">    </p:cNvPr>
          <p:cNvPicPr>
            <a:picLocks noChangeAspect="1"/>
          </p:cNvPicPr>
          <p:nvPr/>
        </p:nvPicPr>
        <p:blipFill>
          <a:blip r:embed="rId2"/>
          <a:stretch>
            <a:fillRect/>
          </a:stretch>
        </p:blipFill>
        <p:spPr>
          <a:xfrm>
            <a:off x="1414463" y="1723039"/>
            <a:ext cx="171450" cy="171450"/>
          </a:xfrm>
          <a:prstGeom prst="rect">
            <a:avLst/>
          </a:prstGeom>
        </p:spPr>
      </p:pic>
      <p:sp>
        <p:nvSpPr>
          <p:cNvPr id="7" name="Text 3"/>
          <p:cNvSpPr/>
          <p:nvPr/>
        </p:nvSpPr>
        <p:spPr>
          <a:xfrm>
            <a:off x="1285875" y="2165952"/>
            <a:ext cx="1285875" cy="182166"/>
          </a:xfrm>
          <a:prstGeom prst="rect">
            <a:avLst/>
          </a:prstGeom>
          <a:noFill/>
          <a:ln/>
        </p:spPr>
        <p:txBody>
          <a:bodyPr wrap="none" lIns="0" tIns="0" rIns="0" bIns="0" rtlCol="0" anchor="t">
            <a:spAutoFit/>
          </a:bodyPr>
          <a:lstStyle/>
          <a:p>
            <a:pPr algn="l" indent="0" marL="0">
              <a:buNone/>
            </a:pPr>
            <a:r>
              <a:rPr lang="en-US" sz="1150" dirty="0">
                <a:solidFill>
                  <a:srgbClr val="1E293B"/>
                </a:solidFill>
                <a:latin typeface="Georgia" pitchFamily="34" charset="0"/>
                <a:ea typeface="Georgia" pitchFamily="34" charset="-122"/>
                <a:cs typeface="Georgia" pitchFamily="34" charset="-120"/>
              </a:rPr>
              <a:t>Sensors</a:t>
            </a:r>
            <a:endParaRPr lang="en-US" sz="1150" dirty="0"/>
          </a:p>
        </p:txBody>
      </p:sp>
      <p:sp>
        <p:nvSpPr>
          <p:cNvPr id="8" name="Text 4"/>
          <p:cNvSpPr/>
          <p:nvPr/>
        </p:nvSpPr>
        <p:spPr>
          <a:xfrm>
            <a:off x="1285875" y="2433842"/>
            <a:ext cx="1285875" cy="482203"/>
          </a:xfrm>
          <a:prstGeom prst="rect">
            <a:avLst/>
          </a:prstGeom>
          <a:noFill/>
          <a:ln/>
        </p:spPr>
        <p:txBody>
          <a:bodyPr wrap="square" lIns="0" tIns="0" rIns="0" bIns="0" rtlCol="0" anchor="t">
            <a:spAutoFit/>
          </a:bodyPr>
          <a:lstStyle/>
          <a:p>
            <a:pPr algn="l" indent="0" marL="0">
              <a:lnSpc>
                <a:spcPct val="120000"/>
              </a:lnSpc>
              <a:buNone/>
            </a:pPr>
            <a:r>
              <a:rPr lang="en-US" sz="800" dirty="0">
                <a:solidFill>
                  <a:srgbClr val="475569"/>
                </a:solidFill>
                <a:latin typeface="Arial" pitchFamily="34" charset="0"/>
                <a:ea typeface="Arial" pitchFamily="34" charset="-122"/>
                <a:cs typeface="Arial" pitchFamily="34" charset="-120"/>
              </a:rPr>
              <a:t>LM35 and LDR produce continuous analog voltage signals.</a:t>
            </a:r>
            <a:endParaRPr lang="en-US" sz="800" dirty="0"/>
          </a:p>
        </p:txBody>
      </p:sp>
      <p:sp>
        <p:nvSpPr>
          <p:cNvPr id="9" name="Shape 5"/>
          <p:cNvSpPr/>
          <p:nvPr/>
        </p:nvSpPr>
        <p:spPr>
          <a:xfrm>
            <a:off x="2750344" y="1594452"/>
            <a:ext cx="428625" cy="428625"/>
          </a:xfrm>
          <a:prstGeom prst="ellipse">
            <a:avLst/>
          </a:prstGeom>
          <a:solidFill>
            <a:srgbClr val="FFFFFF"/>
          </a:solidFill>
          <a:ln w="18288">
            <a:solidFill>
              <a:srgbClr val="2563EB"/>
            </a:solidFill>
            <a:prstDash val="solid"/>
          </a:ln>
        </p:spPr>
      </p:sp>
      <p:pic>
        <p:nvPicPr>
          <p:cNvPr id="10" name="Image 2" descr="preencoded.png">    </p:cNvPr>
          <p:cNvPicPr>
            <a:picLocks noChangeAspect="1"/>
          </p:cNvPicPr>
          <p:nvPr/>
        </p:nvPicPr>
        <p:blipFill>
          <a:blip r:embed="rId3"/>
          <a:stretch>
            <a:fillRect/>
          </a:stretch>
        </p:blipFill>
        <p:spPr>
          <a:xfrm>
            <a:off x="2857500" y="1723039"/>
            <a:ext cx="214313" cy="171450"/>
          </a:xfrm>
          <a:prstGeom prst="rect">
            <a:avLst/>
          </a:prstGeom>
        </p:spPr>
      </p:pic>
      <p:sp>
        <p:nvSpPr>
          <p:cNvPr id="11" name="Text 6"/>
          <p:cNvSpPr/>
          <p:nvPr/>
        </p:nvSpPr>
        <p:spPr>
          <a:xfrm>
            <a:off x="2750344" y="2165952"/>
            <a:ext cx="1285875" cy="182166"/>
          </a:xfrm>
          <a:prstGeom prst="rect">
            <a:avLst/>
          </a:prstGeom>
          <a:noFill/>
          <a:ln/>
        </p:spPr>
        <p:txBody>
          <a:bodyPr wrap="none" lIns="0" tIns="0" rIns="0" bIns="0" rtlCol="0" anchor="t">
            <a:spAutoFit/>
          </a:bodyPr>
          <a:lstStyle/>
          <a:p>
            <a:pPr algn="l" indent="0" marL="0">
              <a:buNone/>
            </a:pPr>
            <a:r>
              <a:rPr lang="en-US" sz="1150" dirty="0">
                <a:solidFill>
                  <a:srgbClr val="1E293B"/>
                </a:solidFill>
                <a:latin typeface="Georgia" pitchFamily="34" charset="0"/>
                <a:ea typeface="Georgia" pitchFamily="34" charset="-122"/>
                <a:cs typeface="Georgia" pitchFamily="34" charset="-120"/>
              </a:rPr>
              <a:t>ADC</a:t>
            </a:r>
            <a:endParaRPr lang="en-US" sz="1150" dirty="0"/>
          </a:p>
        </p:txBody>
      </p:sp>
      <p:sp>
        <p:nvSpPr>
          <p:cNvPr id="12" name="Text 7"/>
          <p:cNvSpPr/>
          <p:nvPr/>
        </p:nvSpPr>
        <p:spPr>
          <a:xfrm>
            <a:off x="2750344" y="2433842"/>
            <a:ext cx="1285875" cy="482203"/>
          </a:xfrm>
          <a:prstGeom prst="rect">
            <a:avLst/>
          </a:prstGeom>
          <a:noFill/>
          <a:ln/>
        </p:spPr>
        <p:txBody>
          <a:bodyPr wrap="square" lIns="0" tIns="0" rIns="0" bIns="0" rtlCol="0" anchor="t">
            <a:spAutoFit/>
          </a:bodyPr>
          <a:lstStyle/>
          <a:p>
            <a:pPr algn="l" indent="0" marL="0">
              <a:lnSpc>
                <a:spcPct val="120000"/>
              </a:lnSpc>
              <a:buNone/>
            </a:pPr>
            <a:r>
              <a:rPr lang="en-US" sz="800" dirty="0">
                <a:solidFill>
                  <a:srgbClr val="475569"/>
                </a:solidFill>
                <a:latin typeface="Arial" pitchFamily="34" charset="0"/>
                <a:ea typeface="Arial" pitchFamily="34" charset="-122"/>
                <a:cs typeface="Arial" pitchFamily="34" charset="-120"/>
              </a:rPr>
              <a:t>10-bit conversion translates voltage into digital values.</a:t>
            </a:r>
            <a:endParaRPr lang="en-US" sz="800" dirty="0"/>
          </a:p>
        </p:txBody>
      </p:sp>
      <p:sp>
        <p:nvSpPr>
          <p:cNvPr id="13" name="Shape 8"/>
          <p:cNvSpPr/>
          <p:nvPr/>
        </p:nvSpPr>
        <p:spPr>
          <a:xfrm>
            <a:off x="4214813" y="1594452"/>
            <a:ext cx="428625" cy="428625"/>
          </a:xfrm>
          <a:prstGeom prst="ellipse">
            <a:avLst/>
          </a:prstGeom>
          <a:solidFill>
            <a:srgbClr val="FFFFFF"/>
          </a:solidFill>
          <a:ln w="18288">
            <a:solidFill>
              <a:srgbClr val="2563EB"/>
            </a:solidFill>
            <a:prstDash val="solid"/>
          </a:ln>
        </p:spPr>
      </p:sp>
      <p:pic>
        <p:nvPicPr>
          <p:cNvPr id="14" name="Image 3" descr="preencoded.png">    </p:cNvPr>
          <p:cNvPicPr>
            <a:picLocks noChangeAspect="1"/>
          </p:cNvPicPr>
          <p:nvPr/>
        </p:nvPicPr>
        <p:blipFill>
          <a:blip r:embed="rId4"/>
          <a:stretch>
            <a:fillRect/>
          </a:stretch>
        </p:blipFill>
        <p:spPr>
          <a:xfrm>
            <a:off x="4321969" y="1723039"/>
            <a:ext cx="214313" cy="171450"/>
          </a:xfrm>
          <a:prstGeom prst="rect">
            <a:avLst/>
          </a:prstGeom>
        </p:spPr>
      </p:pic>
      <p:sp>
        <p:nvSpPr>
          <p:cNvPr id="15" name="Text 9"/>
          <p:cNvSpPr/>
          <p:nvPr/>
        </p:nvSpPr>
        <p:spPr>
          <a:xfrm>
            <a:off x="4214813" y="2165952"/>
            <a:ext cx="1285875" cy="182166"/>
          </a:xfrm>
          <a:prstGeom prst="rect">
            <a:avLst/>
          </a:prstGeom>
          <a:noFill/>
          <a:ln/>
        </p:spPr>
        <p:txBody>
          <a:bodyPr wrap="none" lIns="0" tIns="0" rIns="0" bIns="0" rtlCol="0" anchor="t">
            <a:spAutoFit/>
          </a:bodyPr>
          <a:lstStyle/>
          <a:p>
            <a:pPr algn="l" indent="0" marL="0">
              <a:buNone/>
            </a:pPr>
            <a:r>
              <a:rPr lang="en-US" sz="1150" dirty="0">
                <a:solidFill>
                  <a:srgbClr val="1E293B"/>
                </a:solidFill>
                <a:latin typeface="Georgia" pitchFamily="34" charset="0"/>
                <a:ea typeface="Georgia" pitchFamily="34" charset="-122"/>
                <a:cs typeface="Georgia" pitchFamily="34" charset="-120"/>
              </a:rPr>
              <a:t>Logic</a:t>
            </a:r>
            <a:endParaRPr lang="en-US" sz="1150" dirty="0"/>
          </a:p>
        </p:txBody>
      </p:sp>
      <p:sp>
        <p:nvSpPr>
          <p:cNvPr id="16" name="Text 10"/>
          <p:cNvSpPr/>
          <p:nvPr/>
        </p:nvSpPr>
        <p:spPr>
          <a:xfrm>
            <a:off x="4214813" y="2433842"/>
            <a:ext cx="1285875" cy="482203"/>
          </a:xfrm>
          <a:prstGeom prst="rect">
            <a:avLst/>
          </a:prstGeom>
          <a:noFill/>
          <a:ln/>
        </p:spPr>
        <p:txBody>
          <a:bodyPr wrap="square" lIns="0" tIns="0" rIns="0" bIns="0" rtlCol="0" anchor="t">
            <a:spAutoFit/>
          </a:bodyPr>
          <a:lstStyle/>
          <a:p>
            <a:pPr algn="l" indent="0" marL="0">
              <a:lnSpc>
                <a:spcPct val="120000"/>
              </a:lnSpc>
              <a:buNone/>
            </a:pPr>
            <a:r>
              <a:rPr lang="en-US" sz="800" dirty="0">
                <a:solidFill>
                  <a:srgbClr val="475569"/>
                </a:solidFill>
                <a:latin typeface="Arial" pitchFamily="34" charset="0"/>
                <a:ea typeface="Arial" pitchFamily="34" charset="-122"/>
                <a:cs typeface="Arial" pitchFamily="34" charset="-120"/>
              </a:rPr>
              <a:t>ATmega32 processes data and checks alert thresholds.</a:t>
            </a:r>
            <a:endParaRPr lang="en-US" sz="800" dirty="0"/>
          </a:p>
        </p:txBody>
      </p:sp>
      <p:sp>
        <p:nvSpPr>
          <p:cNvPr id="17" name="Shape 11"/>
          <p:cNvSpPr/>
          <p:nvPr/>
        </p:nvSpPr>
        <p:spPr>
          <a:xfrm>
            <a:off x="5679281" y="1594452"/>
            <a:ext cx="428625" cy="428625"/>
          </a:xfrm>
          <a:prstGeom prst="ellipse">
            <a:avLst/>
          </a:prstGeom>
          <a:solidFill>
            <a:srgbClr val="FFFFFF"/>
          </a:solidFill>
          <a:ln w="18288">
            <a:solidFill>
              <a:srgbClr val="2563EB"/>
            </a:solidFill>
            <a:prstDash val="solid"/>
          </a:ln>
        </p:spPr>
      </p:sp>
      <p:pic>
        <p:nvPicPr>
          <p:cNvPr id="18" name="Image 4" descr="preencoded.png">    </p:cNvPr>
          <p:cNvPicPr>
            <a:picLocks noChangeAspect="1"/>
          </p:cNvPicPr>
          <p:nvPr/>
        </p:nvPicPr>
        <p:blipFill>
          <a:blip r:embed="rId5"/>
          <a:stretch>
            <a:fillRect/>
          </a:stretch>
        </p:blipFill>
        <p:spPr>
          <a:xfrm>
            <a:off x="5818584" y="1723039"/>
            <a:ext cx="150019" cy="171450"/>
          </a:xfrm>
          <a:prstGeom prst="rect">
            <a:avLst/>
          </a:prstGeom>
        </p:spPr>
      </p:pic>
      <p:sp>
        <p:nvSpPr>
          <p:cNvPr id="19" name="Text 12"/>
          <p:cNvSpPr/>
          <p:nvPr/>
        </p:nvSpPr>
        <p:spPr>
          <a:xfrm>
            <a:off x="5679281" y="2165952"/>
            <a:ext cx="1285875" cy="182166"/>
          </a:xfrm>
          <a:prstGeom prst="rect">
            <a:avLst/>
          </a:prstGeom>
          <a:noFill/>
          <a:ln/>
        </p:spPr>
        <p:txBody>
          <a:bodyPr wrap="none" lIns="0" tIns="0" rIns="0" bIns="0" rtlCol="0" anchor="t">
            <a:spAutoFit/>
          </a:bodyPr>
          <a:lstStyle/>
          <a:p>
            <a:pPr algn="l" indent="0" marL="0">
              <a:buNone/>
            </a:pPr>
            <a:r>
              <a:rPr lang="en-US" sz="1150" dirty="0">
                <a:solidFill>
                  <a:srgbClr val="1E293B"/>
                </a:solidFill>
                <a:latin typeface="Georgia" pitchFamily="34" charset="0"/>
                <a:ea typeface="Georgia" pitchFamily="34" charset="-122"/>
                <a:cs typeface="Georgia" pitchFamily="34" charset="-120"/>
              </a:rPr>
              <a:t>Storage</a:t>
            </a:r>
            <a:endParaRPr lang="en-US" sz="1150" dirty="0"/>
          </a:p>
        </p:txBody>
      </p:sp>
      <p:sp>
        <p:nvSpPr>
          <p:cNvPr id="20" name="Text 13"/>
          <p:cNvSpPr/>
          <p:nvPr/>
        </p:nvSpPr>
        <p:spPr>
          <a:xfrm>
            <a:off x="5679281" y="2433842"/>
            <a:ext cx="1285875" cy="482203"/>
          </a:xfrm>
          <a:prstGeom prst="rect">
            <a:avLst/>
          </a:prstGeom>
          <a:noFill/>
          <a:ln/>
        </p:spPr>
        <p:txBody>
          <a:bodyPr wrap="square" lIns="0" tIns="0" rIns="0" bIns="0" rtlCol="0" anchor="t">
            <a:spAutoFit/>
          </a:bodyPr>
          <a:lstStyle/>
          <a:p>
            <a:pPr algn="l" indent="0" marL="0">
              <a:lnSpc>
                <a:spcPct val="120000"/>
              </a:lnSpc>
              <a:buNone/>
            </a:pPr>
            <a:r>
              <a:rPr lang="en-US" sz="800" dirty="0">
                <a:solidFill>
                  <a:srgbClr val="475569"/>
                </a:solidFill>
                <a:latin typeface="Arial" pitchFamily="34" charset="0"/>
                <a:ea typeface="Arial" pitchFamily="34" charset="-122"/>
                <a:cs typeface="Arial" pitchFamily="34" charset="-120"/>
              </a:rPr>
              <a:t>Periodic samples are committed to non-volatile EEPROM.</a:t>
            </a:r>
            <a:endParaRPr lang="en-US" sz="800" dirty="0"/>
          </a:p>
        </p:txBody>
      </p:sp>
      <p:sp>
        <p:nvSpPr>
          <p:cNvPr id="21" name="Shape 14"/>
          <p:cNvSpPr/>
          <p:nvPr/>
        </p:nvSpPr>
        <p:spPr>
          <a:xfrm>
            <a:off x="7143750" y="1594452"/>
            <a:ext cx="428625" cy="428625"/>
          </a:xfrm>
          <a:prstGeom prst="ellipse">
            <a:avLst/>
          </a:prstGeom>
          <a:solidFill>
            <a:srgbClr val="FFFFFF"/>
          </a:solidFill>
          <a:ln w="18288">
            <a:solidFill>
              <a:srgbClr val="2563EB"/>
            </a:solidFill>
            <a:prstDash val="solid"/>
          </a:ln>
        </p:spPr>
      </p:sp>
      <p:pic>
        <p:nvPicPr>
          <p:cNvPr id="22" name="Image 5" descr="preencoded.png">    </p:cNvPr>
          <p:cNvPicPr>
            <a:picLocks noChangeAspect="1"/>
          </p:cNvPicPr>
          <p:nvPr/>
        </p:nvPicPr>
        <p:blipFill>
          <a:blip r:embed="rId6"/>
          <a:stretch>
            <a:fillRect/>
          </a:stretch>
        </p:blipFill>
        <p:spPr>
          <a:xfrm>
            <a:off x="7261622" y="1723039"/>
            <a:ext cx="192881" cy="171450"/>
          </a:xfrm>
          <a:prstGeom prst="rect">
            <a:avLst/>
          </a:prstGeom>
        </p:spPr>
      </p:pic>
      <p:sp>
        <p:nvSpPr>
          <p:cNvPr id="23" name="Text 15"/>
          <p:cNvSpPr/>
          <p:nvPr/>
        </p:nvSpPr>
        <p:spPr>
          <a:xfrm>
            <a:off x="7143750" y="2165952"/>
            <a:ext cx="1285875" cy="182166"/>
          </a:xfrm>
          <a:prstGeom prst="rect">
            <a:avLst/>
          </a:prstGeom>
          <a:noFill/>
          <a:ln/>
        </p:spPr>
        <p:txBody>
          <a:bodyPr wrap="none" lIns="0" tIns="0" rIns="0" bIns="0" rtlCol="0" anchor="t">
            <a:spAutoFit/>
          </a:bodyPr>
          <a:lstStyle/>
          <a:p>
            <a:pPr algn="l" indent="0" marL="0">
              <a:buNone/>
            </a:pPr>
            <a:r>
              <a:rPr lang="en-US" sz="1150" dirty="0">
                <a:solidFill>
                  <a:srgbClr val="1E293B"/>
                </a:solidFill>
                <a:latin typeface="Georgia" pitchFamily="34" charset="0"/>
                <a:ea typeface="Georgia" pitchFamily="34" charset="-122"/>
                <a:cs typeface="Georgia" pitchFamily="34" charset="-120"/>
              </a:rPr>
              <a:t>Output</a:t>
            </a:r>
            <a:endParaRPr lang="en-US" sz="1150" dirty="0"/>
          </a:p>
        </p:txBody>
      </p:sp>
      <p:sp>
        <p:nvSpPr>
          <p:cNvPr id="24" name="Text 16"/>
          <p:cNvSpPr/>
          <p:nvPr/>
        </p:nvSpPr>
        <p:spPr>
          <a:xfrm>
            <a:off x="7143750" y="2433842"/>
            <a:ext cx="1285875" cy="482203"/>
          </a:xfrm>
          <a:prstGeom prst="rect">
            <a:avLst/>
          </a:prstGeom>
          <a:noFill/>
          <a:ln/>
        </p:spPr>
        <p:txBody>
          <a:bodyPr wrap="square" lIns="0" tIns="0" rIns="0" bIns="0" rtlCol="0" anchor="t">
            <a:spAutoFit/>
          </a:bodyPr>
          <a:lstStyle/>
          <a:p>
            <a:pPr algn="l" indent="0" marL="0">
              <a:lnSpc>
                <a:spcPct val="120000"/>
              </a:lnSpc>
              <a:buNone/>
            </a:pPr>
            <a:r>
              <a:rPr lang="en-US" sz="800" dirty="0">
                <a:solidFill>
                  <a:srgbClr val="475569"/>
                </a:solidFill>
                <a:latin typeface="Arial" pitchFamily="34" charset="0"/>
                <a:ea typeface="Arial" pitchFamily="34" charset="-122"/>
                <a:cs typeface="Arial" pitchFamily="34" charset="-120"/>
              </a:rPr>
              <a:t>LCD updates locally while UART handles PC data dumps.</a:t>
            </a:r>
            <a:endParaRPr lang="en-US" sz="800" dirty="0"/>
          </a:p>
        </p:txBody>
      </p:sp>
      <p:sp>
        <p:nvSpPr>
          <p:cNvPr id="25" name="Text 17"/>
          <p:cNvSpPr/>
          <p:nvPr/>
        </p:nvSpPr>
        <p:spPr>
          <a:xfrm>
            <a:off x="1285875" y="4532709"/>
            <a:ext cx="1851180" cy="110728"/>
          </a:xfrm>
          <a:prstGeom prst="rect">
            <a:avLst/>
          </a:prstGeom>
          <a:noFill/>
          <a:ln/>
        </p:spPr>
        <p:txBody>
          <a:bodyPr wrap="square" lIns="0" tIns="0" rIns="0" bIns="0" rtlCol="0" anchor="t">
            <a:spAutoFit/>
          </a:bodyPr>
          <a:lstStyle/>
          <a:p>
            <a:pPr algn="l" indent="0" marL="0">
              <a:buNone/>
            </a:pPr>
            <a:r>
              <a:rPr lang="en-US" sz="650" spc="2" kern="0" dirty="0">
                <a:solidFill>
                  <a:srgbClr val="94A3B8"/>
                </a:solidFill>
                <a:latin typeface="Arial" pitchFamily="34" charset="0"/>
                <a:ea typeface="Arial" pitchFamily="34" charset="-122"/>
                <a:cs typeface="Arial" pitchFamily="34" charset="-120"/>
              </a:rPr>
              <a:t>END-TO-END SIGNAL INTEGRITY</a:t>
            </a:r>
            <a:endParaRPr lang="en-US" sz="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1257300" y="428625"/>
            <a:ext cx="7886700" cy="121444"/>
          </a:xfrm>
          <a:prstGeom prst="rect">
            <a:avLst/>
          </a:prstGeom>
          <a:noFill/>
          <a:ln/>
        </p:spPr>
        <p:txBody>
          <a:bodyPr wrap="square" lIns="0" tIns="0" rIns="0" bIns="0" rtlCol="0" anchor="t">
            <a:spAutoFit/>
          </a:bodyPr>
          <a:lstStyle/>
          <a:p>
            <a:pPr algn="l" indent="0" marL="0">
              <a:buNone/>
            </a:pPr>
            <a:r>
              <a:rPr lang="en-US" sz="750" b="1" spc="2" kern="0" dirty="0">
                <a:solidFill>
                  <a:srgbClr val="2563EB"/>
                </a:solidFill>
                <a:latin typeface="Arial" pitchFamily="34" charset="0"/>
                <a:ea typeface="Arial" pitchFamily="34" charset="-122"/>
                <a:cs typeface="Arial" pitchFamily="34" charset="-120"/>
              </a:rPr>
              <a:t>07 / OPERATIONAL MODES</a:t>
            </a:r>
            <a:endParaRPr lang="en-US" sz="750" dirty="0"/>
          </a:p>
        </p:txBody>
      </p:sp>
      <p:sp>
        <p:nvSpPr>
          <p:cNvPr id="4" name="Text 1"/>
          <p:cNvSpPr/>
          <p:nvPr/>
        </p:nvSpPr>
        <p:spPr>
          <a:xfrm>
            <a:off x="1257300" y="635794"/>
            <a:ext cx="5715000" cy="692944"/>
          </a:xfrm>
          <a:prstGeom prst="rect">
            <a:avLst/>
          </a:prstGeom>
          <a:noFill/>
          <a:ln/>
        </p:spPr>
        <p:txBody>
          <a:bodyPr wrap="square" lIns="0" tIns="0" rIns="0" bIns="0" rtlCol="0" anchor="t">
            <a:spAutoFit/>
          </a:bodyPr>
          <a:lstStyle/>
          <a:p>
            <a:pPr algn="l" indent="0" marL="0">
              <a:buNone/>
            </a:pPr>
            <a:r>
              <a:rPr lang="en-US" sz="2250" dirty="0">
                <a:solidFill>
                  <a:srgbClr val="1E293B"/>
                </a:solidFill>
                <a:latin typeface="Georgia" pitchFamily="34" charset="0"/>
                <a:ea typeface="Georgia" pitchFamily="34" charset="-122"/>
                <a:cs typeface="Georgia" pitchFamily="34" charset="-120"/>
              </a:rPr>
              <a:t>The system supports both live monitoring and history</a:t>
            </a:r>
            <a:endParaRPr lang="en-US" sz="2250" dirty="0"/>
          </a:p>
        </p:txBody>
      </p:sp>
      <p:sp>
        <p:nvSpPr>
          <p:cNvPr id="5" name="Shape 2"/>
          <p:cNvSpPr/>
          <p:nvPr/>
        </p:nvSpPr>
        <p:spPr>
          <a:xfrm>
            <a:off x="1257300" y="1900238"/>
            <a:ext cx="428625" cy="428625"/>
          </a:xfrm>
          <a:prstGeom prst="rect">
            <a:avLst/>
          </a:prstGeom>
          <a:solidFill>
            <a:srgbClr val="DBEAFE"/>
          </a:solidFill>
          <a:ln/>
        </p:spPr>
      </p:sp>
      <p:pic>
        <p:nvPicPr>
          <p:cNvPr id="6" name="Image 1" descr="preencoded.png">    </p:cNvPr>
          <p:cNvPicPr>
            <a:picLocks noChangeAspect="1"/>
          </p:cNvPicPr>
          <p:nvPr/>
        </p:nvPicPr>
        <p:blipFill>
          <a:blip r:embed="rId2"/>
          <a:stretch>
            <a:fillRect/>
          </a:stretch>
        </p:blipFill>
        <p:spPr>
          <a:xfrm>
            <a:off x="1375172" y="2028825"/>
            <a:ext cx="192881" cy="171450"/>
          </a:xfrm>
          <a:prstGeom prst="rect">
            <a:avLst/>
          </a:prstGeom>
        </p:spPr>
      </p:pic>
      <p:sp>
        <p:nvSpPr>
          <p:cNvPr id="7" name="Text 3"/>
          <p:cNvSpPr/>
          <p:nvPr/>
        </p:nvSpPr>
        <p:spPr>
          <a:xfrm>
            <a:off x="1828800" y="2000250"/>
            <a:ext cx="1264723" cy="228600"/>
          </a:xfrm>
          <a:prstGeom prst="rect">
            <a:avLst/>
          </a:prstGeom>
          <a:noFill/>
          <a:ln/>
        </p:spPr>
        <p:txBody>
          <a:bodyPr wrap="none" lIns="0" tIns="0" rIns="0" bIns="0" rtlCol="0" anchor="t">
            <a:spAutoFit/>
          </a:bodyPr>
          <a:lstStyle/>
          <a:p>
            <a:pPr algn="l" indent="0" marL="0">
              <a:buNone/>
            </a:pPr>
            <a:r>
              <a:rPr lang="en-US" sz="1500" dirty="0">
                <a:solidFill>
                  <a:srgbClr val="1E293B"/>
                </a:solidFill>
                <a:latin typeface="Georgia" pitchFamily="34" charset="0"/>
                <a:ea typeface="Georgia" pitchFamily="34" charset="-122"/>
                <a:cs typeface="Georgia" pitchFamily="34" charset="-120"/>
              </a:rPr>
              <a:t>Live Awareness</a:t>
            </a:r>
            <a:endParaRPr lang="en-US" sz="1500" dirty="0"/>
          </a:p>
        </p:txBody>
      </p:sp>
      <p:sp>
        <p:nvSpPr>
          <p:cNvPr id="8" name="Text 4"/>
          <p:cNvSpPr/>
          <p:nvPr/>
        </p:nvSpPr>
        <p:spPr>
          <a:xfrm>
            <a:off x="1257300" y="2543175"/>
            <a:ext cx="3454003" cy="150019"/>
          </a:xfrm>
          <a:prstGeom prst="rect">
            <a:avLst/>
          </a:prstGeom>
          <a:noFill/>
          <a:ln/>
        </p:spPr>
        <p:txBody>
          <a:bodyPr wrap="square" lIns="0" tIns="0" rIns="0" bIns="0" rtlCol="0" anchor="t">
            <a:spAutoFit/>
          </a:bodyPr>
          <a:lstStyle/>
          <a:p>
            <a:pPr algn="l" indent="0" marL="0">
              <a:buNone/>
            </a:pPr>
            <a:r>
              <a:rPr lang="en-US" sz="900" b="1" dirty="0">
                <a:solidFill>
                  <a:srgbClr val="1E293B"/>
                </a:solidFill>
                <a:latin typeface="Arial" pitchFamily="34" charset="0"/>
                <a:ea typeface="Arial" pitchFamily="34" charset="-122"/>
                <a:cs typeface="Arial" pitchFamily="34" charset="-120"/>
              </a:rPr>
              <a:t>Real-Time Feedback</a:t>
            </a:r>
            <a:endParaRPr lang="en-US" sz="900" dirty="0"/>
          </a:p>
        </p:txBody>
      </p:sp>
      <p:sp>
        <p:nvSpPr>
          <p:cNvPr id="9" name="Text 5"/>
          <p:cNvSpPr/>
          <p:nvPr/>
        </p:nvSpPr>
        <p:spPr>
          <a:xfrm>
            <a:off x="1257300" y="2750344"/>
            <a:ext cx="3454003" cy="365671"/>
          </a:xfrm>
          <a:prstGeom prst="rect">
            <a:avLst/>
          </a:prstGeom>
          <a:noFill/>
          <a:ln/>
        </p:spPr>
        <p:txBody>
          <a:bodyPr wrap="square" lIns="0" tIns="0" rIns="0" bIns="0" rtlCol="0" anchor="t">
            <a:spAutoFit/>
          </a:bodyPr>
          <a:lstStyle/>
          <a:p>
            <a:pPr algn="l" indent="0" marL="0">
              <a:lnSpc>
                <a:spcPct val="128000"/>
              </a:lnSpc>
              <a:buNone/>
            </a:pPr>
            <a:r>
              <a:rPr lang="en-US" sz="850" dirty="0">
                <a:solidFill>
                  <a:srgbClr val="475569"/>
                </a:solidFill>
                <a:latin typeface="Arial" pitchFamily="34" charset="0"/>
                <a:ea typeface="Arial" pitchFamily="34" charset="-122"/>
                <a:cs typeface="Arial" pitchFamily="34" charset="-120"/>
              </a:rPr>
              <a:t>Immediate awareness of current conditions via the local LCD interface, providing instant visibility for operators.</a:t>
            </a:r>
            <a:endParaRPr lang="en-US" sz="850" dirty="0"/>
          </a:p>
        </p:txBody>
      </p:sp>
      <p:sp>
        <p:nvSpPr>
          <p:cNvPr id="10" name="Text 6"/>
          <p:cNvSpPr/>
          <p:nvPr/>
        </p:nvSpPr>
        <p:spPr>
          <a:xfrm>
            <a:off x="1257300" y="3287464"/>
            <a:ext cx="3454003" cy="150019"/>
          </a:xfrm>
          <a:prstGeom prst="rect">
            <a:avLst/>
          </a:prstGeom>
          <a:noFill/>
          <a:ln/>
        </p:spPr>
        <p:txBody>
          <a:bodyPr wrap="square" lIns="0" tIns="0" rIns="0" bIns="0" rtlCol="0" anchor="t">
            <a:spAutoFit/>
          </a:bodyPr>
          <a:lstStyle/>
          <a:p>
            <a:pPr algn="l" indent="0" marL="0">
              <a:buNone/>
            </a:pPr>
            <a:r>
              <a:rPr lang="en-US" sz="900" b="1" dirty="0">
                <a:solidFill>
                  <a:srgbClr val="1E293B"/>
                </a:solidFill>
                <a:latin typeface="Arial" pitchFamily="34" charset="0"/>
                <a:ea typeface="Arial" pitchFamily="34" charset="-122"/>
                <a:cs typeface="Arial" pitchFamily="34" charset="-120"/>
              </a:rPr>
              <a:t>Threshold Alarms</a:t>
            </a:r>
            <a:endParaRPr lang="en-US" sz="900" dirty="0"/>
          </a:p>
        </p:txBody>
      </p:sp>
      <p:sp>
        <p:nvSpPr>
          <p:cNvPr id="11" name="Text 7"/>
          <p:cNvSpPr/>
          <p:nvPr/>
        </p:nvSpPr>
        <p:spPr>
          <a:xfrm>
            <a:off x="1257300" y="3494633"/>
            <a:ext cx="3454003" cy="365671"/>
          </a:xfrm>
          <a:prstGeom prst="rect">
            <a:avLst/>
          </a:prstGeom>
          <a:noFill/>
          <a:ln/>
        </p:spPr>
        <p:txBody>
          <a:bodyPr wrap="square" lIns="0" tIns="0" rIns="0" bIns="0" rtlCol="0" anchor="t">
            <a:spAutoFit/>
          </a:bodyPr>
          <a:lstStyle/>
          <a:p>
            <a:pPr algn="l" indent="0" marL="0">
              <a:lnSpc>
                <a:spcPct val="128000"/>
              </a:lnSpc>
              <a:buNone/>
            </a:pPr>
            <a:r>
              <a:rPr lang="en-US" sz="850" dirty="0">
                <a:solidFill>
                  <a:srgbClr val="475569"/>
                </a:solidFill>
                <a:latin typeface="Arial" pitchFamily="34" charset="0"/>
                <a:ea typeface="Arial" pitchFamily="34" charset="-122"/>
                <a:cs typeface="Arial" pitchFamily="34" charset="-120"/>
              </a:rPr>
              <a:t>Configurable alert logic triggers the buzzer instantly when environmental limits are breached, ensuring rapid response.</a:t>
            </a:r>
            <a:endParaRPr lang="en-US" sz="850" dirty="0"/>
          </a:p>
        </p:txBody>
      </p:sp>
      <p:sp>
        <p:nvSpPr>
          <p:cNvPr id="12" name="Shape 8"/>
          <p:cNvSpPr/>
          <p:nvPr/>
        </p:nvSpPr>
        <p:spPr>
          <a:xfrm>
            <a:off x="5289947" y="1900238"/>
            <a:ext cx="428625" cy="428625"/>
          </a:xfrm>
          <a:prstGeom prst="rect">
            <a:avLst/>
          </a:prstGeom>
          <a:solidFill>
            <a:srgbClr val="DBEAFE"/>
          </a:solidFill>
          <a:ln/>
        </p:spPr>
      </p:sp>
      <p:pic>
        <p:nvPicPr>
          <p:cNvPr id="13" name="Image 2" descr="preencoded.png">    </p:cNvPr>
          <p:cNvPicPr>
            <a:picLocks noChangeAspect="1"/>
          </p:cNvPicPr>
          <p:nvPr/>
        </p:nvPicPr>
        <p:blipFill>
          <a:blip r:embed="rId3"/>
          <a:stretch>
            <a:fillRect/>
          </a:stretch>
        </p:blipFill>
        <p:spPr>
          <a:xfrm>
            <a:off x="5429250" y="2028825"/>
            <a:ext cx="150019" cy="171450"/>
          </a:xfrm>
          <a:prstGeom prst="rect">
            <a:avLst/>
          </a:prstGeom>
        </p:spPr>
      </p:pic>
      <p:sp>
        <p:nvSpPr>
          <p:cNvPr id="14" name="Text 9"/>
          <p:cNvSpPr/>
          <p:nvPr/>
        </p:nvSpPr>
        <p:spPr>
          <a:xfrm>
            <a:off x="5861447" y="2000250"/>
            <a:ext cx="1427913" cy="228600"/>
          </a:xfrm>
          <a:prstGeom prst="rect">
            <a:avLst/>
          </a:prstGeom>
          <a:noFill/>
          <a:ln/>
        </p:spPr>
        <p:txBody>
          <a:bodyPr wrap="square" lIns="0" tIns="0" rIns="0" bIns="0" rtlCol="0" anchor="t">
            <a:spAutoFit/>
          </a:bodyPr>
          <a:lstStyle/>
          <a:p>
            <a:pPr algn="l" indent="0" marL="0">
              <a:buNone/>
            </a:pPr>
            <a:r>
              <a:rPr lang="en-US" sz="1500" dirty="0">
                <a:solidFill>
                  <a:srgbClr val="1E293B"/>
                </a:solidFill>
                <a:latin typeface="Georgia" pitchFamily="34" charset="0"/>
                <a:ea typeface="Georgia" pitchFamily="34" charset="-122"/>
                <a:cs typeface="Georgia" pitchFamily="34" charset="-120"/>
              </a:rPr>
              <a:t>Persistent History</a:t>
            </a:r>
            <a:endParaRPr lang="en-US" sz="1500" dirty="0"/>
          </a:p>
        </p:txBody>
      </p:sp>
      <p:sp>
        <p:nvSpPr>
          <p:cNvPr id="15" name="Text 10"/>
          <p:cNvSpPr/>
          <p:nvPr/>
        </p:nvSpPr>
        <p:spPr>
          <a:xfrm>
            <a:off x="5289947" y="2543175"/>
            <a:ext cx="3454003" cy="150019"/>
          </a:xfrm>
          <a:prstGeom prst="rect">
            <a:avLst/>
          </a:prstGeom>
          <a:noFill/>
          <a:ln/>
        </p:spPr>
        <p:txBody>
          <a:bodyPr wrap="square" lIns="0" tIns="0" rIns="0" bIns="0" rtlCol="0" anchor="t">
            <a:spAutoFit/>
          </a:bodyPr>
          <a:lstStyle/>
          <a:p>
            <a:pPr algn="l" indent="0" marL="0">
              <a:buNone/>
            </a:pPr>
            <a:r>
              <a:rPr lang="en-US" sz="900" b="1" dirty="0">
                <a:solidFill>
                  <a:srgbClr val="1E293B"/>
                </a:solidFill>
                <a:latin typeface="Arial" pitchFamily="34" charset="0"/>
                <a:ea typeface="Arial" pitchFamily="34" charset="-122"/>
                <a:cs typeface="Arial" pitchFamily="34" charset="-120"/>
              </a:rPr>
              <a:t>EEPROM Logging</a:t>
            </a:r>
            <a:endParaRPr lang="en-US" sz="900" dirty="0"/>
          </a:p>
        </p:txBody>
      </p:sp>
      <p:sp>
        <p:nvSpPr>
          <p:cNvPr id="16" name="Text 11"/>
          <p:cNvSpPr/>
          <p:nvPr/>
        </p:nvSpPr>
        <p:spPr>
          <a:xfrm>
            <a:off x="5289947" y="2750344"/>
            <a:ext cx="3454003" cy="365671"/>
          </a:xfrm>
          <a:prstGeom prst="rect">
            <a:avLst/>
          </a:prstGeom>
          <a:noFill/>
          <a:ln/>
        </p:spPr>
        <p:txBody>
          <a:bodyPr wrap="square" lIns="0" tIns="0" rIns="0" bIns="0" rtlCol="0" anchor="t">
            <a:spAutoFit/>
          </a:bodyPr>
          <a:lstStyle/>
          <a:p>
            <a:pPr algn="l" indent="0" marL="0">
              <a:lnSpc>
                <a:spcPct val="128000"/>
              </a:lnSpc>
              <a:buNone/>
            </a:pPr>
            <a:r>
              <a:rPr lang="en-US" sz="850" dirty="0">
                <a:solidFill>
                  <a:srgbClr val="475569"/>
                </a:solidFill>
                <a:latin typeface="Arial" pitchFamily="34" charset="0"/>
                <a:ea typeface="Arial" pitchFamily="34" charset="-122"/>
                <a:cs typeface="Arial" pitchFamily="34" charset="-120"/>
              </a:rPr>
              <a:t>Periodic samples are stored in non-volatile memory, preserving environmental context even after power cycles.</a:t>
            </a:r>
            <a:endParaRPr lang="en-US" sz="850" dirty="0"/>
          </a:p>
        </p:txBody>
      </p:sp>
      <p:sp>
        <p:nvSpPr>
          <p:cNvPr id="17" name="Text 12"/>
          <p:cNvSpPr/>
          <p:nvPr/>
        </p:nvSpPr>
        <p:spPr>
          <a:xfrm>
            <a:off x="5289947" y="3287464"/>
            <a:ext cx="3454003" cy="150019"/>
          </a:xfrm>
          <a:prstGeom prst="rect">
            <a:avLst/>
          </a:prstGeom>
          <a:noFill/>
          <a:ln/>
        </p:spPr>
        <p:txBody>
          <a:bodyPr wrap="square" lIns="0" tIns="0" rIns="0" bIns="0" rtlCol="0" anchor="t">
            <a:spAutoFit/>
          </a:bodyPr>
          <a:lstStyle/>
          <a:p>
            <a:pPr algn="l" indent="0" marL="0">
              <a:buNone/>
            </a:pPr>
            <a:r>
              <a:rPr lang="en-US" sz="900" b="1" dirty="0">
                <a:solidFill>
                  <a:srgbClr val="1E293B"/>
                </a:solidFill>
                <a:latin typeface="Arial" pitchFamily="34" charset="0"/>
                <a:ea typeface="Arial" pitchFamily="34" charset="-122"/>
                <a:cs typeface="Arial" pitchFamily="34" charset="-120"/>
              </a:rPr>
              <a:t>UART Data Export</a:t>
            </a:r>
            <a:endParaRPr lang="en-US" sz="900" dirty="0"/>
          </a:p>
        </p:txBody>
      </p:sp>
      <p:sp>
        <p:nvSpPr>
          <p:cNvPr id="18" name="Text 13"/>
          <p:cNvSpPr/>
          <p:nvPr/>
        </p:nvSpPr>
        <p:spPr>
          <a:xfrm>
            <a:off x="5289947" y="3494633"/>
            <a:ext cx="3454003" cy="365671"/>
          </a:xfrm>
          <a:prstGeom prst="rect">
            <a:avLst/>
          </a:prstGeom>
          <a:noFill/>
          <a:ln/>
        </p:spPr>
        <p:txBody>
          <a:bodyPr wrap="square" lIns="0" tIns="0" rIns="0" bIns="0" rtlCol="0" anchor="t">
            <a:spAutoFit/>
          </a:bodyPr>
          <a:lstStyle/>
          <a:p>
            <a:pPr algn="l" indent="0" marL="0">
              <a:lnSpc>
                <a:spcPct val="128000"/>
              </a:lnSpc>
              <a:buNone/>
            </a:pPr>
            <a:r>
              <a:rPr lang="en-US" sz="850" dirty="0">
                <a:solidFill>
                  <a:srgbClr val="475569"/>
                </a:solidFill>
                <a:latin typeface="Arial" pitchFamily="34" charset="0"/>
                <a:ea typeface="Arial" pitchFamily="34" charset="-122"/>
                <a:cs typeface="Arial" pitchFamily="34" charset="-120"/>
              </a:rPr>
              <a:t>A controlled serial bridge allows the entire history to be dumped to a PC terminal for deeper analysis and archiving.</a:t>
            </a:r>
            <a:endParaRPr lang="en-US" sz="850" dirty="0"/>
          </a:p>
        </p:txBody>
      </p:sp>
      <p:sp>
        <p:nvSpPr>
          <p:cNvPr id="19" name="Text 14"/>
          <p:cNvSpPr/>
          <p:nvPr/>
        </p:nvSpPr>
        <p:spPr>
          <a:xfrm>
            <a:off x="1257300" y="4532709"/>
            <a:ext cx="3114340" cy="110728"/>
          </a:xfrm>
          <a:prstGeom prst="rect">
            <a:avLst/>
          </a:prstGeom>
          <a:noFill/>
          <a:ln/>
        </p:spPr>
        <p:txBody>
          <a:bodyPr wrap="square" lIns="0" tIns="0" rIns="0" bIns="0" rtlCol="0" anchor="t">
            <a:spAutoFit/>
          </a:bodyPr>
          <a:lstStyle/>
          <a:p>
            <a:pPr algn="l" indent="0" marL="0">
              <a:buNone/>
            </a:pPr>
            <a:r>
              <a:rPr lang="en-US" sz="650" spc="2" kern="0" dirty="0">
                <a:solidFill>
                  <a:srgbClr val="94A3B8"/>
                </a:solidFill>
                <a:latin typeface="Arial" pitchFamily="34" charset="0"/>
                <a:ea typeface="Arial" pitchFamily="34" charset="-122"/>
                <a:cs typeface="Arial" pitchFamily="34" charset="-120"/>
              </a:rPr>
              <a:t>BRIDGING IMMEDIATE ACTION WITH LONG-TERM DATA</a:t>
            </a:r>
            <a:endParaRPr lang="en-US" sz="6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1285875" y="571500"/>
            <a:ext cx="7143750" cy="121444"/>
          </a:xfrm>
          <a:prstGeom prst="rect">
            <a:avLst/>
          </a:prstGeom>
          <a:noFill/>
          <a:ln/>
        </p:spPr>
        <p:txBody>
          <a:bodyPr wrap="square" lIns="0" tIns="0" rIns="0" bIns="0" rtlCol="0" anchor="t">
            <a:spAutoFit/>
          </a:bodyPr>
          <a:lstStyle/>
          <a:p>
            <a:pPr algn="l" indent="0" marL="0">
              <a:buNone/>
            </a:pPr>
            <a:r>
              <a:rPr lang="en-US" sz="750" b="1" spc="2" kern="0" dirty="0">
                <a:solidFill>
                  <a:srgbClr val="2563EB"/>
                </a:solidFill>
                <a:latin typeface="Arial" pitchFamily="34" charset="0"/>
                <a:ea typeface="Arial" pitchFamily="34" charset="-122"/>
                <a:cs typeface="Arial" pitchFamily="34" charset="-120"/>
              </a:rPr>
              <a:t>08 / OPERATIONAL LOGIC</a:t>
            </a:r>
            <a:endParaRPr lang="en-US" sz="750" dirty="0"/>
          </a:p>
        </p:txBody>
      </p:sp>
      <p:sp>
        <p:nvSpPr>
          <p:cNvPr id="4" name="Text 1"/>
          <p:cNvSpPr/>
          <p:nvPr/>
        </p:nvSpPr>
        <p:spPr>
          <a:xfrm>
            <a:off x="1285875" y="835819"/>
            <a:ext cx="5000625" cy="330008"/>
          </a:xfrm>
          <a:prstGeom prst="rect">
            <a:avLst/>
          </a:prstGeom>
          <a:noFill/>
          <a:ln/>
        </p:spPr>
        <p:txBody>
          <a:bodyPr wrap="none" lIns="0" tIns="0" rIns="0" bIns="0" rtlCol="0" anchor="t">
            <a:spAutoFit/>
          </a:bodyPr>
          <a:lstStyle/>
          <a:p>
            <a:pPr algn="l" indent="0" marL="0">
              <a:lnSpc>
                <a:spcPct val="88000"/>
              </a:lnSpc>
              <a:buNone/>
            </a:pPr>
            <a:r>
              <a:rPr lang="en-US" sz="2250" dirty="0">
                <a:solidFill>
                  <a:srgbClr val="1E293B"/>
                </a:solidFill>
                <a:latin typeface="Georgia" pitchFamily="34" charset="0"/>
                <a:ea typeface="Georgia" pitchFamily="34" charset="-122"/>
                <a:cs typeface="Georgia" pitchFamily="34" charset="-120"/>
              </a:rPr>
              <a:t>Designed for clear states, not clutter</a:t>
            </a:r>
            <a:endParaRPr lang="en-US" sz="2250" dirty="0"/>
          </a:p>
        </p:txBody>
      </p:sp>
      <p:sp>
        <p:nvSpPr>
          <p:cNvPr id="5" name="Shape 2"/>
          <p:cNvSpPr/>
          <p:nvPr/>
        </p:nvSpPr>
        <p:spPr>
          <a:xfrm>
            <a:off x="1285875" y="1594452"/>
            <a:ext cx="1571625" cy="2000250"/>
          </a:xfrm>
          <a:prstGeom prst="rect">
            <a:avLst/>
          </a:prstGeom>
          <a:solidFill>
            <a:srgbClr val="FFFFFF"/>
          </a:solidFill>
          <a:ln w="9144">
            <a:solidFill>
              <a:srgbClr val="E2E8F0"/>
            </a:solidFill>
            <a:prstDash val="solid"/>
          </a:ln>
        </p:spPr>
      </p:sp>
      <p:sp>
        <p:nvSpPr>
          <p:cNvPr id="6" name="Shape 3"/>
          <p:cNvSpPr/>
          <p:nvPr/>
        </p:nvSpPr>
        <p:spPr>
          <a:xfrm>
            <a:off x="1285875" y="1594452"/>
            <a:ext cx="1571625" cy="357188"/>
          </a:xfrm>
          <a:prstGeom prst="rect">
            <a:avLst/>
          </a:prstGeom>
          <a:solidFill>
            <a:srgbClr val="F1F5F9"/>
          </a:solidFill>
          <a:ln/>
        </p:spPr>
      </p:sp>
      <p:sp>
        <p:nvSpPr>
          <p:cNvPr id="7" name="Shape 4"/>
          <p:cNvSpPr/>
          <p:nvPr/>
        </p:nvSpPr>
        <p:spPr>
          <a:xfrm>
            <a:off x="1285875" y="1944495"/>
            <a:ext cx="1571625" cy="7144"/>
          </a:xfrm>
          <a:prstGeom prst="rect">
            <a:avLst/>
          </a:prstGeom>
          <a:solidFill>
            <a:srgbClr val="E2E8F0"/>
          </a:solidFill>
          <a:ln/>
        </p:spPr>
      </p:sp>
      <p:sp>
        <p:nvSpPr>
          <p:cNvPr id="8" name="Text 5"/>
          <p:cNvSpPr/>
          <p:nvPr/>
        </p:nvSpPr>
        <p:spPr>
          <a:xfrm>
            <a:off x="1521619" y="1723039"/>
            <a:ext cx="335812" cy="100013"/>
          </a:xfrm>
          <a:prstGeom prst="rect">
            <a:avLst/>
          </a:prstGeom>
          <a:noFill/>
          <a:ln/>
        </p:spPr>
        <p:txBody>
          <a:bodyPr wrap="none" lIns="0" tIns="0" rIns="0" bIns="0" rtlCol="0" anchor="t">
            <a:spAutoFit/>
          </a:bodyPr>
          <a:lstStyle/>
          <a:p>
            <a:pPr algn="l" indent="0" marL="0">
              <a:buNone/>
            </a:pPr>
            <a:r>
              <a:rPr lang="en-US" sz="600" b="1" spc="1" kern="0" dirty="0">
                <a:solidFill>
                  <a:srgbClr val="64748B"/>
                </a:solidFill>
                <a:latin typeface="Arial" pitchFamily="34" charset="0"/>
                <a:ea typeface="Arial" pitchFamily="34" charset="-122"/>
                <a:cs typeface="Arial" pitchFamily="34" charset="-120"/>
              </a:rPr>
              <a:t>READY</a:t>
            </a:r>
            <a:endParaRPr lang="en-US" sz="600" dirty="0"/>
          </a:p>
        </p:txBody>
      </p:sp>
      <p:pic>
        <p:nvPicPr>
          <p:cNvPr id="9" name="Image 1" descr="preencoded.png">    </p:cNvPr>
          <p:cNvPicPr>
            <a:picLocks noChangeAspect="1"/>
          </p:cNvPicPr>
          <p:nvPr/>
        </p:nvPicPr>
        <p:blipFill>
          <a:blip r:embed="rId2"/>
          <a:stretch>
            <a:fillRect/>
          </a:stretch>
        </p:blipFill>
        <p:spPr>
          <a:xfrm>
            <a:off x="1428750" y="2105230"/>
            <a:ext cx="200025" cy="200025"/>
          </a:xfrm>
          <a:prstGeom prst="rect">
            <a:avLst/>
          </a:prstGeom>
        </p:spPr>
      </p:pic>
      <p:sp>
        <p:nvSpPr>
          <p:cNvPr id="10" name="Text 6"/>
          <p:cNvSpPr/>
          <p:nvPr/>
        </p:nvSpPr>
        <p:spPr>
          <a:xfrm>
            <a:off x="1428750" y="2469561"/>
            <a:ext cx="1285875" cy="196453"/>
          </a:xfrm>
          <a:prstGeom prst="rect">
            <a:avLst/>
          </a:prstGeom>
          <a:noFill/>
          <a:ln/>
        </p:spPr>
        <p:txBody>
          <a:bodyPr wrap="none" lIns="0" tIns="0" rIns="0" bIns="0" rtlCol="0" anchor="t">
            <a:spAutoFit/>
          </a:bodyPr>
          <a:lstStyle/>
          <a:p>
            <a:pPr algn="l" indent="0" marL="0">
              <a:buNone/>
            </a:pPr>
            <a:r>
              <a:rPr lang="en-US" sz="1250" dirty="0">
                <a:solidFill>
                  <a:srgbClr val="1E293B"/>
                </a:solidFill>
                <a:latin typeface="Georgia" pitchFamily="34" charset="0"/>
                <a:ea typeface="Georgia" pitchFamily="34" charset="-122"/>
                <a:cs typeface="Georgia" pitchFamily="34" charset="-120"/>
              </a:rPr>
              <a:t>Initialization</a:t>
            </a:r>
            <a:endParaRPr lang="en-US" sz="1250" dirty="0"/>
          </a:p>
        </p:txBody>
      </p:sp>
      <p:sp>
        <p:nvSpPr>
          <p:cNvPr id="11" name="Text 7"/>
          <p:cNvSpPr/>
          <p:nvPr/>
        </p:nvSpPr>
        <p:spPr>
          <a:xfrm>
            <a:off x="1428750" y="2751739"/>
            <a:ext cx="1285875" cy="600075"/>
          </a:xfrm>
          <a:prstGeom prst="rect">
            <a:avLst/>
          </a:prstGeom>
          <a:noFill/>
          <a:ln/>
        </p:spPr>
        <p:txBody>
          <a:bodyPr wrap="square" lIns="0" tIns="0" rIns="0" bIns="0" rtlCol="0" anchor="t">
            <a:spAutoFit/>
          </a:bodyPr>
          <a:lstStyle/>
          <a:p>
            <a:pPr algn="l" indent="0" marL="0">
              <a:lnSpc>
                <a:spcPct val="120000"/>
              </a:lnSpc>
              <a:buNone/>
            </a:pPr>
            <a:r>
              <a:rPr lang="en-US" sz="750" dirty="0">
                <a:solidFill>
                  <a:srgbClr val="475569"/>
                </a:solidFill>
                <a:latin typeface="Arial" pitchFamily="34" charset="0"/>
                <a:ea typeface="Arial" pitchFamily="34" charset="-122"/>
                <a:cs typeface="Arial" pitchFamily="34" charset="-120"/>
              </a:rPr>
              <a:t>System hardware is verified and the station waits for the first live sensor measurement.</a:t>
            </a:r>
            <a:endParaRPr lang="en-US" sz="750" dirty="0"/>
          </a:p>
        </p:txBody>
      </p:sp>
      <p:sp>
        <p:nvSpPr>
          <p:cNvPr id="12" name="Shape 8"/>
          <p:cNvSpPr/>
          <p:nvPr/>
        </p:nvSpPr>
        <p:spPr>
          <a:xfrm>
            <a:off x="3143250" y="1594452"/>
            <a:ext cx="1571625" cy="2000250"/>
          </a:xfrm>
          <a:prstGeom prst="rect">
            <a:avLst/>
          </a:prstGeom>
          <a:solidFill>
            <a:srgbClr val="FFFFFF"/>
          </a:solidFill>
          <a:ln w="9144">
            <a:solidFill>
              <a:srgbClr val="E2E8F0"/>
            </a:solidFill>
            <a:prstDash val="solid"/>
          </a:ln>
        </p:spPr>
      </p:sp>
      <p:sp>
        <p:nvSpPr>
          <p:cNvPr id="13" name="Shape 9"/>
          <p:cNvSpPr/>
          <p:nvPr/>
        </p:nvSpPr>
        <p:spPr>
          <a:xfrm>
            <a:off x="3143250" y="1594452"/>
            <a:ext cx="1571625" cy="357188"/>
          </a:xfrm>
          <a:prstGeom prst="rect">
            <a:avLst/>
          </a:prstGeom>
          <a:solidFill>
            <a:srgbClr val="F1F5F9"/>
          </a:solidFill>
          <a:ln/>
        </p:spPr>
      </p:sp>
      <p:sp>
        <p:nvSpPr>
          <p:cNvPr id="14" name="Shape 10"/>
          <p:cNvSpPr/>
          <p:nvPr/>
        </p:nvSpPr>
        <p:spPr>
          <a:xfrm>
            <a:off x="3143250" y="1944495"/>
            <a:ext cx="1571625" cy="7144"/>
          </a:xfrm>
          <a:prstGeom prst="rect">
            <a:avLst/>
          </a:prstGeom>
          <a:solidFill>
            <a:srgbClr val="E2E8F0"/>
          </a:solidFill>
          <a:ln/>
        </p:spPr>
      </p:sp>
      <p:sp>
        <p:nvSpPr>
          <p:cNvPr id="15" name="Text 11"/>
          <p:cNvSpPr/>
          <p:nvPr/>
        </p:nvSpPr>
        <p:spPr>
          <a:xfrm>
            <a:off x="3378994" y="1723039"/>
            <a:ext cx="627087" cy="100013"/>
          </a:xfrm>
          <a:prstGeom prst="rect">
            <a:avLst/>
          </a:prstGeom>
          <a:noFill/>
          <a:ln/>
        </p:spPr>
        <p:txBody>
          <a:bodyPr wrap="none" lIns="0" tIns="0" rIns="0" bIns="0" rtlCol="0" anchor="t">
            <a:spAutoFit/>
          </a:bodyPr>
          <a:lstStyle/>
          <a:p>
            <a:pPr algn="l" indent="0" marL="0">
              <a:buNone/>
            </a:pPr>
            <a:r>
              <a:rPr lang="en-US" sz="600" b="1" spc="1" kern="0" dirty="0">
                <a:solidFill>
                  <a:srgbClr val="64748B"/>
                </a:solidFill>
                <a:latin typeface="Arial" pitchFamily="34" charset="0"/>
                <a:ea typeface="Arial" pitchFamily="34" charset="-122"/>
                <a:cs typeface="Arial" pitchFamily="34" charset="-120"/>
              </a:rPr>
              <a:t>MONITORING</a:t>
            </a:r>
            <a:endParaRPr lang="en-US" sz="600" dirty="0"/>
          </a:p>
        </p:txBody>
      </p:sp>
      <p:pic>
        <p:nvPicPr>
          <p:cNvPr id="16" name="Image 2" descr="preencoded.png">    </p:cNvPr>
          <p:cNvPicPr>
            <a:picLocks noChangeAspect="1"/>
          </p:cNvPicPr>
          <p:nvPr/>
        </p:nvPicPr>
        <p:blipFill>
          <a:blip r:embed="rId3"/>
          <a:stretch>
            <a:fillRect/>
          </a:stretch>
        </p:blipFill>
        <p:spPr>
          <a:xfrm>
            <a:off x="3286125" y="2105230"/>
            <a:ext cx="225028" cy="200025"/>
          </a:xfrm>
          <a:prstGeom prst="rect">
            <a:avLst/>
          </a:prstGeom>
        </p:spPr>
      </p:pic>
      <p:sp>
        <p:nvSpPr>
          <p:cNvPr id="17" name="Text 12"/>
          <p:cNvSpPr/>
          <p:nvPr/>
        </p:nvSpPr>
        <p:spPr>
          <a:xfrm>
            <a:off x="3286125" y="2469561"/>
            <a:ext cx="1285875" cy="196453"/>
          </a:xfrm>
          <a:prstGeom prst="rect">
            <a:avLst/>
          </a:prstGeom>
          <a:noFill/>
          <a:ln/>
        </p:spPr>
        <p:txBody>
          <a:bodyPr wrap="none" lIns="0" tIns="0" rIns="0" bIns="0" rtlCol="0" anchor="t">
            <a:spAutoFit/>
          </a:bodyPr>
          <a:lstStyle/>
          <a:p>
            <a:pPr algn="l" indent="0" marL="0">
              <a:buNone/>
            </a:pPr>
            <a:r>
              <a:rPr lang="en-US" sz="1250" dirty="0">
                <a:solidFill>
                  <a:srgbClr val="1E293B"/>
                </a:solidFill>
                <a:latin typeface="Georgia" pitchFamily="34" charset="0"/>
                <a:ea typeface="Georgia" pitchFamily="34" charset="-122"/>
                <a:cs typeface="Georgia" pitchFamily="34" charset="-120"/>
              </a:rPr>
              <a:t>Active Sensing</a:t>
            </a:r>
            <a:endParaRPr lang="en-US" sz="1250" dirty="0"/>
          </a:p>
        </p:txBody>
      </p:sp>
      <p:sp>
        <p:nvSpPr>
          <p:cNvPr id="18" name="Text 13"/>
          <p:cNvSpPr/>
          <p:nvPr/>
        </p:nvSpPr>
        <p:spPr>
          <a:xfrm>
            <a:off x="3286125" y="2751739"/>
            <a:ext cx="1285875" cy="600075"/>
          </a:xfrm>
          <a:prstGeom prst="rect">
            <a:avLst/>
          </a:prstGeom>
          <a:noFill/>
          <a:ln/>
        </p:spPr>
        <p:txBody>
          <a:bodyPr wrap="square" lIns="0" tIns="0" rIns="0" bIns="0" rtlCol="0" anchor="t">
            <a:spAutoFit/>
          </a:bodyPr>
          <a:lstStyle/>
          <a:p>
            <a:pPr algn="l" indent="0" marL="0">
              <a:lnSpc>
                <a:spcPct val="120000"/>
              </a:lnSpc>
              <a:buNone/>
            </a:pPr>
            <a:r>
              <a:rPr lang="en-US" sz="750" dirty="0">
                <a:solidFill>
                  <a:srgbClr val="475569"/>
                </a:solidFill>
                <a:latin typeface="Arial" pitchFamily="34" charset="0"/>
                <a:ea typeface="Arial" pitchFamily="34" charset="-122"/>
                <a:cs typeface="Arial" pitchFamily="34" charset="-120"/>
              </a:rPr>
              <a:t>LCD presents real-time environmental status while the application logs periodic samples.</a:t>
            </a:r>
            <a:endParaRPr lang="en-US" sz="750" dirty="0"/>
          </a:p>
        </p:txBody>
      </p:sp>
      <p:sp>
        <p:nvSpPr>
          <p:cNvPr id="19" name="Shape 14"/>
          <p:cNvSpPr/>
          <p:nvPr/>
        </p:nvSpPr>
        <p:spPr>
          <a:xfrm>
            <a:off x="5000625" y="1594452"/>
            <a:ext cx="1571625" cy="2000250"/>
          </a:xfrm>
          <a:prstGeom prst="rect">
            <a:avLst/>
          </a:prstGeom>
          <a:solidFill>
            <a:srgbClr val="FFFFFF"/>
          </a:solidFill>
          <a:ln w="9144">
            <a:solidFill>
              <a:srgbClr val="E2E8F0"/>
            </a:solidFill>
            <a:prstDash val="solid"/>
          </a:ln>
        </p:spPr>
      </p:sp>
      <p:sp>
        <p:nvSpPr>
          <p:cNvPr id="20" name="Shape 15"/>
          <p:cNvSpPr/>
          <p:nvPr/>
        </p:nvSpPr>
        <p:spPr>
          <a:xfrm>
            <a:off x="5000625" y="1594452"/>
            <a:ext cx="1571625" cy="357188"/>
          </a:xfrm>
          <a:prstGeom prst="rect">
            <a:avLst/>
          </a:prstGeom>
          <a:solidFill>
            <a:srgbClr val="F1F5F9"/>
          </a:solidFill>
          <a:ln/>
        </p:spPr>
      </p:sp>
      <p:sp>
        <p:nvSpPr>
          <p:cNvPr id="21" name="Shape 16"/>
          <p:cNvSpPr/>
          <p:nvPr/>
        </p:nvSpPr>
        <p:spPr>
          <a:xfrm>
            <a:off x="5000625" y="1944495"/>
            <a:ext cx="1571625" cy="7144"/>
          </a:xfrm>
          <a:prstGeom prst="rect">
            <a:avLst/>
          </a:prstGeom>
          <a:solidFill>
            <a:srgbClr val="E2E8F0"/>
          </a:solidFill>
          <a:ln/>
        </p:spPr>
      </p:sp>
      <p:sp>
        <p:nvSpPr>
          <p:cNvPr id="22" name="Text 17"/>
          <p:cNvSpPr/>
          <p:nvPr/>
        </p:nvSpPr>
        <p:spPr>
          <a:xfrm>
            <a:off x="5236369" y="1723039"/>
            <a:ext cx="321469" cy="100013"/>
          </a:xfrm>
          <a:prstGeom prst="rect">
            <a:avLst/>
          </a:prstGeom>
          <a:noFill/>
          <a:ln/>
        </p:spPr>
        <p:txBody>
          <a:bodyPr wrap="none" lIns="0" tIns="0" rIns="0" bIns="0" rtlCol="0" anchor="t">
            <a:spAutoFit/>
          </a:bodyPr>
          <a:lstStyle/>
          <a:p>
            <a:pPr algn="l" indent="0" marL="0">
              <a:buNone/>
            </a:pPr>
            <a:r>
              <a:rPr lang="en-US" sz="600" b="1" spc="1" kern="0" dirty="0">
                <a:solidFill>
                  <a:srgbClr val="64748B"/>
                </a:solidFill>
                <a:latin typeface="Arial" pitchFamily="34" charset="0"/>
                <a:ea typeface="Arial" pitchFamily="34" charset="-122"/>
                <a:cs typeface="Arial" pitchFamily="34" charset="-120"/>
              </a:rPr>
              <a:t>ALERT</a:t>
            </a:r>
            <a:endParaRPr lang="en-US" sz="600" dirty="0"/>
          </a:p>
        </p:txBody>
      </p:sp>
      <p:pic>
        <p:nvPicPr>
          <p:cNvPr id="23" name="Image 3" descr="preencoded.png">    </p:cNvPr>
          <p:cNvPicPr>
            <a:picLocks noChangeAspect="1"/>
          </p:cNvPicPr>
          <p:nvPr/>
        </p:nvPicPr>
        <p:blipFill>
          <a:blip r:embed="rId4"/>
          <a:stretch>
            <a:fillRect/>
          </a:stretch>
        </p:blipFill>
        <p:spPr>
          <a:xfrm>
            <a:off x="5143500" y="2105230"/>
            <a:ext cx="200025" cy="200025"/>
          </a:xfrm>
          <a:prstGeom prst="rect">
            <a:avLst/>
          </a:prstGeom>
        </p:spPr>
      </p:pic>
      <p:sp>
        <p:nvSpPr>
          <p:cNvPr id="24" name="Text 18"/>
          <p:cNvSpPr/>
          <p:nvPr/>
        </p:nvSpPr>
        <p:spPr>
          <a:xfrm>
            <a:off x="5143500" y="2469561"/>
            <a:ext cx="1285875" cy="196453"/>
          </a:xfrm>
          <a:prstGeom prst="rect">
            <a:avLst/>
          </a:prstGeom>
          <a:noFill/>
          <a:ln/>
        </p:spPr>
        <p:txBody>
          <a:bodyPr wrap="none" lIns="0" tIns="0" rIns="0" bIns="0" rtlCol="0" anchor="t">
            <a:spAutoFit/>
          </a:bodyPr>
          <a:lstStyle/>
          <a:p>
            <a:pPr algn="l" indent="0" marL="0">
              <a:buNone/>
            </a:pPr>
            <a:r>
              <a:rPr lang="en-US" sz="1250" dirty="0">
                <a:solidFill>
                  <a:srgbClr val="1E293B"/>
                </a:solidFill>
                <a:latin typeface="Georgia" pitchFamily="34" charset="0"/>
                <a:ea typeface="Georgia" pitchFamily="34" charset="-122"/>
                <a:cs typeface="Georgia" pitchFamily="34" charset="-120"/>
              </a:rPr>
              <a:t>Threshold</a:t>
            </a:r>
            <a:endParaRPr lang="en-US" sz="1250" dirty="0"/>
          </a:p>
        </p:txBody>
      </p:sp>
      <p:sp>
        <p:nvSpPr>
          <p:cNvPr id="25" name="Text 19"/>
          <p:cNvSpPr/>
          <p:nvPr/>
        </p:nvSpPr>
        <p:spPr>
          <a:xfrm>
            <a:off x="5143500" y="2751739"/>
            <a:ext cx="1285875" cy="600075"/>
          </a:xfrm>
          <a:prstGeom prst="rect">
            <a:avLst/>
          </a:prstGeom>
          <a:noFill/>
          <a:ln/>
        </p:spPr>
        <p:txBody>
          <a:bodyPr wrap="square" lIns="0" tIns="0" rIns="0" bIns="0" rtlCol="0" anchor="t">
            <a:spAutoFit/>
          </a:bodyPr>
          <a:lstStyle/>
          <a:p>
            <a:pPr algn="l" indent="0" marL="0">
              <a:lnSpc>
                <a:spcPct val="120000"/>
              </a:lnSpc>
              <a:buNone/>
            </a:pPr>
            <a:r>
              <a:rPr lang="en-US" sz="750" dirty="0">
                <a:solidFill>
                  <a:srgbClr val="475569"/>
                </a:solidFill>
                <a:latin typeface="Arial" pitchFamily="34" charset="0"/>
                <a:ea typeface="Arial" pitchFamily="34" charset="-122"/>
                <a:cs typeface="Arial" pitchFamily="34" charset="-120"/>
              </a:rPr>
              <a:t>The buzzer indicates that a configured limit has been exceeded and needs attention.</a:t>
            </a:r>
            <a:endParaRPr lang="en-US" sz="750" dirty="0"/>
          </a:p>
        </p:txBody>
      </p:sp>
      <p:sp>
        <p:nvSpPr>
          <p:cNvPr id="26" name="Shape 20"/>
          <p:cNvSpPr/>
          <p:nvPr/>
        </p:nvSpPr>
        <p:spPr>
          <a:xfrm>
            <a:off x="6858000" y="1594452"/>
            <a:ext cx="1571625" cy="2000250"/>
          </a:xfrm>
          <a:prstGeom prst="rect">
            <a:avLst/>
          </a:prstGeom>
          <a:solidFill>
            <a:srgbClr val="FFFFFF"/>
          </a:solidFill>
          <a:ln w="9144">
            <a:solidFill>
              <a:srgbClr val="E2E8F0"/>
            </a:solidFill>
            <a:prstDash val="solid"/>
          </a:ln>
        </p:spPr>
      </p:sp>
      <p:sp>
        <p:nvSpPr>
          <p:cNvPr id="27" name="Shape 21"/>
          <p:cNvSpPr/>
          <p:nvPr/>
        </p:nvSpPr>
        <p:spPr>
          <a:xfrm>
            <a:off x="6858000" y="1594452"/>
            <a:ext cx="1571625" cy="357188"/>
          </a:xfrm>
          <a:prstGeom prst="rect">
            <a:avLst/>
          </a:prstGeom>
          <a:solidFill>
            <a:srgbClr val="F1F5F9"/>
          </a:solidFill>
          <a:ln/>
        </p:spPr>
      </p:sp>
      <p:sp>
        <p:nvSpPr>
          <p:cNvPr id="28" name="Shape 22"/>
          <p:cNvSpPr/>
          <p:nvPr/>
        </p:nvSpPr>
        <p:spPr>
          <a:xfrm>
            <a:off x="6858000" y="1944495"/>
            <a:ext cx="1571625" cy="7144"/>
          </a:xfrm>
          <a:prstGeom prst="rect">
            <a:avLst/>
          </a:prstGeom>
          <a:solidFill>
            <a:srgbClr val="E2E8F0"/>
          </a:solidFill>
          <a:ln/>
        </p:spPr>
      </p:sp>
      <p:sp>
        <p:nvSpPr>
          <p:cNvPr id="29" name="Text 23"/>
          <p:cNvSpPr/>
          <p:nvPr/>
        </p:nvSpPr>
        <p:spPr>
          <a:xfrm>
            <a:off x="7093744" y="1723039"/>
            <a:ext cx="395362" cy="100013"/>
          </a:xfrm>
          <a:prstGeom prst="rect">
            <a:avLst/>
          </a:prstGeom>
          <a:noFill/>
          <a:ln/>
        </p:spPr>
        <p:txBody>
          <a:bodyPr wrap="none" lIns="0" tIns="0" rIns="0" bIns="0" rtlCol="0" anchor="t">
            <a:spAutoFit/>
          </a:bodyPr>
          <a:lstStyle/>
          <a:p>
            <a:pPr algn="l" indent="0" marL="0">
              <a:buNone/>
            </a:pPr>
            <a:r>
              <a:rPr lang="en-US" sz="600" b="1" spc="1" kern="0" dirty="0">
                <a:solidFill>
                  <a:srgbClr val="64748B"/>
                </a:solidFill>
                <a:latin typeface="Arial" pitchFamily="34" charset="0"/>
                <a:ea typeface="Arial" pitchFamily="34" charset="-122"/>
                <a:cs typeface="Arial" pitchFamily="34" charset="-120"/>
              </a:rPr>
              <a:t>EXPORT</a:t>
            </a:r>
            <a:endParaRPr lang="en-US" sz="600" dirty="0"/>
          </a:p>
        </p:txBody>
      </p:sp>
      <p:pic>
        <p:nvPicPr>
          <p:cNvPr id="30" name="Image 4" descr="preencoded.png">    </p:cNvPr>
          <p:cNvPicPr>
            <a:picLocks noChangeAspect="1"/>
          </p:cNvPicPr>
          <p:nvPr/>
        </p:nvPicPr>
        <p:blipFill>
          <a:blip r:embed="rId5"/>
          <a:stretch>
            <a:fillRect/>
          </a:stretch>
        </p:blipFill>
        <p:spPr>
          <a:xfrm>
            <a:off x="7000875" y="2105230"/>
            <a:ext cx="225028" cy="200025"/>
          </a:xfrm>
          <a:prstGeom prst="rect">
            <a:avLst/>
          </a:prstGeom>
        </p:spPr>
      </p:pic>
      <p:sp>
        <p:nvSpPr>
          <p:cNvPr id="31" name="Text 24"/>
          <p:cNvSpPr/>
          <p:nvPr/>
        </p:nvSpPr>
        <p:spPr>
          <a:xfrm>
            <a:off x="7000875" y="2469561"/>
            <a:ext cx="1285875" cy="196453"/>
          </a:xfrm>
          <a:prstGeom prst="rect">
            <a:avLst/>
          </a:prstGeom>
          <a:noFill/>
          <a:ln/>
        </p:spPr>
        <p:txBody>
          <a:bodyPr wrap="none" lIns="0" tIns="0" rIns="0" bIns="0" rtlCol="0" anchor="t">
            <a:spAutoFit/>
          </a:bodyPr>
          <a:lstStyle/>
          <a:p>
            <a:pPr algn="l" indent="0" marL="0">
              <a:buNone/>
            </a:pPr>
            <a:r>
              <a:rPr lang="en-US" sz="1250" dirty="0">
                <a:solidFill>
                  <a:srgbClr val="1E293B"/>
                </a:solidFill>
                <a:latin typeface="Georgia" pitchFamily="34" charset="0"/>
                <a:ea typeface="Georgia" pitchFamily="34" charset="-122"/>
                <a:cs typeface="Georgia" pitchFamily="34" charset="-120"/>
              </a:rPr>
              <a:t>Data Dump</a:t>
            </a:r>
            <a:endParaRPr lang="en-US" sz="1250" dirty="0"/>
          </a:p>
        </p:txBody>
      </p:sp>
      <p:sp>
        <p:nvSpPr>
          <p:cNvPr id="32" name="Text 25"/>
          <p:cNvSpPr/>
          <p:nvPr/>
        </p:nvSpPr>
        <p:spPr>
          <a:xfrm>
            <a:off x="7000875" y="2751739"/>
            <a:ext cx="1285875" cy="450056"/>
          </a:xfrm>
          <a:prstGeom prst="rect">
            <a:avLst/>
          </a:prstGeom>
          <a:noFill/>
          <a:ln/>
        </p:spPr>
        <p:txBody>
          <a:bodyPr wrap="square" lIns="0" tIns="0" rIns="0" bIns="0" rtlCol="0" anchor="t">
            <a:spAutoFit/>
          </a:bodyPr>
          <a:lstStyle/>
          <a:p>
            <a:pPr algn="l" indent="0" marL="0">
              <a:lnSpc>
                <a:spcPct val="120000"/>
              </a:lnSpc>
              <a:buNone/>
            </a:pPr>
            <a:r>
              <a:rPr lang="en-US" sz="750" dirty="0">
                <a:solidFill>
                  <a:srgbClr val="475569"/>
                </a:solidFill>
                <a:latin typeface="Arial" pitchFamily="34" charset="0"/>
                <a:ea typeface="Arial" pitchFamily="34" charset="-122"/>
                <a:cs typeface="Arial" pitchFamily="34" charset="-120"/>
              </a:rPr>
              <a:t>Stored history is transmitted to a PC terminal via UART for review and clearing.</a:t>
            </a:r>
            <a:endParaRPr lang="en-US" sz="750" dirty="0"/>
          </a:p>
        </p:txBody>
      </p:sp>
      <p:sp>
        <p:nvSpPr>
          <p:cNvPr id="33" name="Text 26"/>
          <p:cNvSpPr/>
          <p:nvPr/>
        </p:nvSpPr>
        <p:spPr>
          <a:xfrm>
            <a:off x="1285875" y="4532709"/>
            <a:ext cx="2407779" cy="110728"/>
          </a:xfrm>
          <a:prstGeom prst="rect">
            <a:avLst/>
          </a:prstGeom>
          <a:noFill/>
          <a:ln/>
        </p:spPr>
        <p:txBody>
          <a:bodyPr wrap="square" lIns="0" tIns="0" rIns="0" bIns="0" rtlCol="0" anchor="t">
            <a:spAutoFit/>
          </a:bodyPr>
          <a:lstStyle/>
          <a:p>
            <a:pPr algn="l" indent="0" marL="0">
              <a:buNone/>
            </a:pPr>
            <a:r>
              <a:rPr lang="en-US" sz="650" spc="2" kern="0" dirty="0">
                <a:solidFill>
                  <a:srgbClr val="94A3B8"/>
                </a:solidFill>
                <a:latin typeface="Arial" pitchFamily="34" charset="0"/>
                <a:ea typeface="Arial" pitchFamily="34" charset="-122"/>
                <a:cs typeface="Arial" pitchFamily="34" charset="-120"/>
              </a:rPr>
              <a:t>A PREDICTABLE INTERACTION LIFECYCLE</a:t>
            </a:r>
            <a:endParaRPr lang="en-US" sz="6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1285875" y="428625"/>
            <a:ext cx="7143750" cy="121444"/>
          </a:xfrm>
          <a:prstGeom prst="rect">
            <a:avLst/>
          </a:prstGeom>
          <a:noFill/>
          <a:ln/>
        </p:spPr>
        <p:txBody>
          <a:bodyPr wrap="square" lIns="0" tIns="0" rIns="0" bIns="0" rtlCol="0" anchor="t">
            <a:spAutoFit/>
          </a:bodyPr>
          <a:lstStyle/>
          <a:p>
            <a:pPr algn="l" indent="0" marL="0">
              <a:buNone/>
            </a:pPr>
            <a:r>
              <a:rPr lang="en-US" sz="750" b="1" spc="2" kern="0" dirty="0">
                <a:solidFill>
                  <a:srgbClr val="2563EB"/>
                </a:solidFill>
                <a:latin typeface="Arial" pitchFamily="34" charset="0"/>
                <a:ea typeface="Arial" pitchFamily="34" charset="-122"/>
                <a:cs typeface="Arial" pitchFamily="34" charset="-120"/>
              </a:rPr>
              <a:t>09 / THE TEAM</a:t>
            </a:r>
            <a:endParaRPr lang="en-US" sz="750" dirty="0"/>
          </a:p>
        </p:txBody>
      </p:sp>
      <p:sp>
        <p:nvSpPr>
          <p:cNvPr id="4" name="Text 1"/>
          <p:cNvSpPr/>
          <p:nvPr/>
        </p:nvSpPr>
        <p:spPr>
          <a:xfrm>
            <a:off x="1285875" y="657225"/>
            <a:ext cx="7143750" cy="330008"/>
          </a:xfrm>
          <a:prstGeom prst="rect">
            <a:avLst/>
          </a:prstGeom>
          <a:noFill/>
          <a:ln/>
        </p:spPr>
        <p:txBody>
          <a:bodyPr wrap="none" lIns="0" tIns="0" rIns="0" bIns="0" rtlCol="0" anchor="t">
            <a:spAutoFit/>
          </a:bodyPr>
          <a:lstStyle/>
          <a:p>
            <a:pPr algn="l" indent="0" marL="0">
              <a:lnSpc>
                <a:spcPct val="88000"/>
              </a:lnSpc>
              <a:buNone/>
            </a:pPr>
            <a:r>
              <a:rPr lang="en-US" sz="2250" dirty="0">
                <a:solidFill>
                  <a:srgbClr val="1E293B"/>
                </a:solidFill>
                <a:latin typeface="Georgia" pitchFamily="34" charset="0"/>
                <a:ea typeface="Georgia" pitchFamily="34" charset="-122"/>
                <a:cs typeface="Georgia" pitchFamily="34" charset="-120"/>
              </a:rPr>
              <a:t>Team 3 combines application, platform, and interface work</a:t>
            </a:r>
            <a:endParaRPr lang="en-US" sz="2250" dirty="0"/>
          </a:p>
        </p:txBody>
      </p:sp>
      <p:sp>
        <p:nvSpPr>
          <p:cNvPr id="5" name="Text 2"/>
          <p:cNvSpPr/>
          <p:nvPr/>
        </p:nvSpPr>
        <p:spPr>
          <a:xfrm>
            <a:off x="1285875" y="1494439"/>
            <a:ext cx="3357563" cy="196453"/>
          </a:xfrm>
          <a:prstGeom prst="rect">
            <a:avLst/>
          </a:prstGeom>
          <a:noFill/>
          <a:ln/>
        </p:spPr>
        <p:txBody>
          <a:bodyPr wrap="square" lIns="0" tIns="0" rIns="0" bIns="0" rtlCol="0" anchor="t">
            <a:spAutoFit/>
          </a:bodyPr>
          <a:lstStyle/>
          <a:p>
            <a:pPr algn="l" indent="0" marL="0">
              <a:buNone/>
            </a:pPr>
            <a:r>
              <a:rPr lang="en-US" sz="1250" dirty="0">
                <a:solidFill>
                  <a:srgbClr val="1E293B"/>
                </a:solidFill>
                <a:latin typeface="Georgia" pitchFamily="34" charset="0"/>
                <a:ea typeface="Georgia" pitchFamily="34" charset="-122"/>
                <a:cs typeface="Georgia" pitchFamily="34" charset="-120"/>
              </a:rPr>
              <a:t>Abdelrahman Mohamed Ibrahim</a:t>
            </a:r>
            <a:endParaRPr lang="en-US" sz="1250" dirty="0"/>
          </a:p>
        </p:txBody>
      </p:sp>
      <p:sp>
        <p:nvSpPr>
          <p:cNvPr id="6" name="Text 3"/>
          <p:cNvSpPr/>
          <p:nvPr/>
        </p:nvSpPr>
        <p:spPr>
          <a:xfrm>
            <a:off x="1285875" y="1748042"/>
            <a:ext cx="3357563" cy="114300"/>
          </a:xfrm>
          <a:prstGeom prst="rect">
            <a:avLst/>
          </a:prstGeom>
          <a:noFill/>
          <a:ln/>
        </p:spPr>
        <p:txBody>
          <a:bodyPr wrap="square" lIns="0" tIns="0" rIns="0" bIns="0" rtlCol="0" anchor="t">
            <a:spAutoFit/>
          </a:bodyPr>
          <a:lstStyle/>
          <a:p>
            <a:pPr algn="l" indent="0" marL="0">
              <a:buNone/>
            </a:pPr>
            <a:r>
              <a:rPr lang="en-US" sz="700" b="1" spc="1" kern="0" dirty="0">
                <a:solidFill>
                  <a:srgbClr val="2563EB"/>
                </a:solidFill>
                <a:latin typeface="Arial" pitchFamily="34" charset="0"/>
                <a:ea typeface="Arial" pitchFamily="34" charset="-122"/>
                <a:cs typeface="Arial" pitchFamily="34" charset="-120"/>
              </a:rPr>
              <a:t>TEAM LEADER</a:t>
            </a:r>
            <a:endParaRPr lang="en-US" sz="700" dirty="0"/>
          </a:p>
        </p:txBody>
      </p:sp>
      <p:sp>
        <p:nvSpPr>
          <p:cNvPr id="7" name="Text 4"/>
          <p:cNvSpPr/>
          <p:nvPr/>
        </p:nvSpPr>
        <p:spPr>
          <a:xfrm>
            <a:off x="1285875" y="1976642"/>
            <a:ext cx="3357563" cy="171450"/>
          </a:xfrm>
          <a:prstGeom prst="rect">
            <a:avLst/>
          </a:prstGeom>
          <a:noFill/>
          <a:ln/>
        </p:spPr>
        <p:txBody>
          <a:bodyPr wrap="none" lIns="170053" tIns="0" rIns="0" bIns="0" rtlCol="0" anchor="t">
            <a:spAutoFit/>
          </a:bodyPr>
          <a:lstStyle/>
          <a:p>
            <a:pPr algn="l" indent="0" marL="0">
              <a:lnSpc>
                <a:spcPct val="128000"/>
              </a:lnSpc>
              <a:buNone/>
            </a:pPr>
            <a:r>
              <a:rPr lang="en-US" sz="800" dirty="0">
                <a:solidFill>
                  <a:srgbClr val="475569"/>
                </a:solidFill>
                <a:latin typeface="Arial" pitchFamily="34" charset="0"/>
                <a:ea typeface="Arial" pitchFamily="34" charset="-122"/>
                <a:cs typeface="Arial" pitchFamily="34" charset="-120"/>
              </a:rPr>
              <a:t>APP layer development and system integration</a:t>
            </a:r>
            <a:endParaRPr lang="en-US" sz="800" dirty="0"/>
          </a:p>
        </p:txBody>
      </p:sp>
      <p:sp>
        <p:nvSpPr>
          <p:cNvPr id="8" name="Text 5"/>
          <p:cNvSpPr/>
          <p:nvPr/>
        </p:nvSpPr>
        <p:spPr>
          <a:xfrm>
            <a:off x="1285875" y="2205242"/>
            <a:ext cx="3357563" cy="171450"/>
          </a:xfrm>
          <a:prstGeom prst="rect">
            <a:avLst/>
          </a:prstGeom>
          <a:noFill/>
          <a:ln/>
        </p:spPr>
        <p:txBody>
          <a:bodyPr wrap="none" lIns="170053" tIns="0" rIns="0" bIns="0" rtlCol="0" anchor="t">
            <a:spAutoFit/>
          </a:bodyPr>
          <a:lstStyle/>
          <a:p>
            <a:pPr algn="l" indent="0" marL="0">
              <a:lnSpc>
                <a:spcPct val="128000"/>
              </a:lnSpc>
              <a:buNone/>
            </a:pPr>
            <a:r>
              <a:rPr lang="en-US" sz="800" dirty="0">
                <a:solidFill>
                  <a:srgbClr val="475569"/>
                </a:solidFill>
                <a:latin typeface="Arial" pitchFamily="34" charset="0"/>
                <a:ea typeface="Arial" pitchFamily="34" charset="-122"/>
                <a:cs typeface="Arial" pitchFamily="34" charset="-120"/>
              </a:rPr>
              <a:t>Sampling schedule and alarm logic coordination</a:t>
            </a:r>
            <a:endParaRPr lang="en-US" sz="800" dirty="0"/>
          </a:p>
        </p:txBody>
      </p:sp>
      <p:sp>
        <p:nvSpPr>
          <p:cNvPr id="9" name="Text 6"/>
          <p:cNvSpPr/>
          <p:nvPr/>
        </p:nvSpPr>
        <p:spPr>
          <a:xfrm>
            <a:off x="1285875" y="2433842"/>
            <a:ext cx="3357563" cy="171450"/>
          </a:xfrm>
          <a:prstGeom prst="rect">
            <a:avLst/>
          </a:prstGeom>
          <a:noFill/>
          <a:ln/>
        </p:spPr>
        <p:txBody>
          <a:bodyPr wrap="none" lIns="170053" tIns="0" rIns="0" bIns="0" rtlCol="0" anchor="t">
            <a:spAutoFit/>
          </a:bodyPr>
          <a:lstStyle/>
          <a:p>
            <a:pPr algn="l" indent="0" marL="0">
              <a:lnSpc>
                <a:spcPct val="128000"/>
              </a:lnSpc>
              <a:buNone/>
            </a:pPr>
            <a:r>
              <a:rPr lang="en-US" sz="800" dirty="0">
                <a:solidFill>
                  <a:srgbClr val="475569"/>
                </a:solidFill>
                <a:latin typeface="Arial" pitchFamily="34" charset="0"/>
                <a:ea typeface="Arial" pitchFamily="34" charset="-122"/>
                <a:cs typeface="Arial" pitchFamily="34" charset="-120"/>
              </a:rPr>
              <a:t>System pin mapping and architecture review</a:t>
            </a:r>
            <a:endParaRPr lang="en-US" sz="800" dirty="0"/>
          </a:p>
        </p:txBody>
      </p:sp>
      <p:sp>
        <p:nvSpPr>
          <p:cNvPr id="10" name="Text 7"/>
          <p:cNvSpPr/>
          <p:nvPr/>
        </p:nvSpPr>
        <p:spPr>
          <a:xfrm>
            <a:off x="1285875" y="1976642"/>
            <a:ext cx="37505" cy="171450"/>
          </a:xfrm>
          <a:prstGeom prst="rect">
            <a:avLst/>
          </a:prstGeom>
          <a:noFill/>
          <a:ln/>
        </p:spPr>
        <p:txBody>
          <a:bodyPr wrap="none" lIns="0" tIns="0" rIns="0" bIns="0" rtlCol="0" anchor="t">
            <a:spAutoFit/>
          </a:bodyPr>
          <a:lstStyle/>
          <a:p>
            <a:pPr algn="l" indent="0" marL="0">
              <a:lnSpc>
                <a:spcPct val="128000"/>
              </a:lnSpc>
              <a:buNone/>
            </a:pPr>
            <a:r>
              <a:rPr lang="en-US" sz="800" dirty="0">
                <a:solidFill>
                  <a:srgbClr val="2563EB"/>
                </a:solidFill>
                <a:latin typeface="Arial" pitchFamily="34" charset="0"/>
                <a:ea typeface="Arial" pitchFamily="34" charset="-122"/>
                <a:cs typeface="Arial" pitchFamily="34" charset="-120"/>
              </a:rPr>
              <a:t>•</a:t>
            </a:r>
            <a:endParaRPr lang="en-US" sz="800" dirty="0"/>
          </a:p>
        </p:txBody>
      </p:sp>
      <p:sp>
        <p:nvSpPr>
          <p:cNvPr id="11" name="Text 8"/>
          <p:cNvSpPr/>
          <p:nvPr/>
        </p:nvSpPr>
        <p:spPr>
          <a:xfrm>
            <a:off x="1285875" y="2205242"/>
            <a:ext cx="37505" cy="171450"/>
          </a:xfrm>
          <a:prstGeom prst="rect">
            <a:avLst/>
          </a:prstGeom>
          <a:noFill/>
          <a:ln/>
        </p:spPr>
        <p:txBody>
          <a:bodyPr wrap="none" lIns="0" tIns="0" rIns="0" bIns="0" rtlCol="0" anchor="t">
            <a:spAutoFit/>
          </a:bodyPr>
          <a:lstStyle/>
          <a:p>
            <a:pPr algn="l" indent="0" marL="0">
              <a:lnSpc>
                <a:spcPct val="128000"/>
              </a:lnSpc>
              <a:buNone/>
            </a:pPr>
            <a:r>
              <a:rPr lang="en-US" sz="800" dirty="0">
                <a:solidFill>
                  <a:srgbClr val="2563EB"/>
                </a:solidFill>
                <a:latin typeface="Arial" pitchFamily="34" charset="0"/>
                <a:ea typeface="Arial" pitchFamily="34" charset="-122"/>
                <a:cs typeface="Arial" pitchFamily="34" charset="-120"/>
              </a:rPr>
              <a:t>•</a:t>
            </a:r>
            <a:endParaRPr lang="en-US" sz="800" dirty="0"/>
          </a:p>
        </p:txBody>
      </p:sp>
      <p:sp>
        <p:nvSpPr>
          <p:cNvPr id="12" name="Text 9"/>
          <p:cNvSpPr/>
          <p:nvPr/>
        </p:nvSpPr>
        <p:spPr>
          <a:xfrm>
            <a:off x="1285875" y="2433842"/>
            <a:ext cx="37505" cy="171450"/>
          </a:xfrm>
          <a:prstGeom prst="rect">
            <a:avLst/>
          </a:prstGeom>
          <a:noFill/>
          <a:ln/>
        </p:spPr>
        <p:txBody>
          <a:bodyPr wrap="none" lIns="0" tIns="0" rIns="0" bIns="0" rtlCol="0" anchor="t">
            <a:spAutoFit/>
          </a:bodyPr>
          <a:lstStyle/>
          <a:p>
            <a:pPr algn="l" indent="0" marL="0">
              <a:lnSpc>
                <a:spcPct val="128000"/>
              </a:lnSpc>
              <a:buNone/>
            </a:pPr>
            <a:r>
              <a:rPr lang="en-US" sz="800" dirty="0">
                <a:solidFill>
                  <a:srgbClr val="2563EB"/>
                </a:solidFill>
                <a:latin typeface="Arial" pitchFamily="34" charset="0"/>
                <a:ea typeface="Arial" pitchFamily="34" charset="-122"/>
                <a:cs typeface="Arial" pitchFamily="34" charset="-120"/>
              </a:rPr>
              <a:t>•</a:t>
            </a:r>
            <a:endParaRPr lang="en-US" sz="800" dirty="0"/>
          </a:p>
        </p:txBody>
      </p:sp>
      <p:sp>
        <p:nvSpPr>
          <p:cNvPr id="13" name="Text 10"/>
          <p:cNvSpPr/>
          <p:nvPr/>
        </p:nvSpPr>
        <p:spPr>
          <a:xfrm>
            <a:off x="5072063" y="1494439"/>
            <a:ext cx="3357563" cy="196453"/>
          </a:xfrm>
          <a:prstGeom prst="rect">
            <a:avLst/>
          </a:prstGeom>
          <a:noFill/>
          <a:ln/>
        </p:spPr>
        <p:txBody>
          <a:bodyPr wrap="square" lIns="0" tIns="0" rIns="0" bIns="0" rtlCol="0" anchor="t">
            <a:spAutoFit/>
          </a:bodyPr>
          <a:lstStyle/>
          <a:p>
            <a:pPr algn="l" indent="0" marL="0">
              <a:buNone/>
            </a:pPr>
            <a:r>
              <a:rPr lang="en-US" sz="1250" dirty="0">
                <a:solidFill>
                  <a:srgbClr val="1E293B"/>
                </a:solidFill>
                <a:latin typeface="Georgia" pitchFamily="34" charset="0"/>
                <a:ea typeface="Georgia" pitchFamily="34" charset="-122"/>
                <a:cs typeface="Georgia" pitchFamily="34" charset="-120"/>
              </a:rPr>
              <a:t>Abdelrahman Ibrahim adelbary</a:t>
            </a:r>
            <a:endParaRPr lang="en-US" sz="1250" dirty="0"/>
          </a:p>
        </p:txBody>
      </p:sp>
      <p:sp>
        <p:nvSpPr>
          <p:cNvPr id="14" name="Text 11"/>
          <p:cNvSpPr/>
          <p:nvPr/>
        </p:nvSpPr>
        <p:spPr>
          <a:xfrm>
            <a:off x="5072063" y="1748042"/>
            <a:ext cx="3357563" cy="114300"/>
          </a:xfrm>
          <a:prstGeom prst="rect">
            <a:avLst/>
          </a:prstGeom>
          <a:noFill/>
          <a:ln/>
        </p:spPr>
        <p:txBody>
          <a:bodyPr wrap="square" lIns="0" tIns="0" rIns="0" bIns="0" rtlCol="0" anchor="t">
            <a:spAutoFit/>
          </a:bodyPr>
          <a:lstStyle/>
          <a:p>
            <a:pPr algn="l" indent="0" marL="0">
              <a:buNone/>
            </a:pPr>
            <a:r>
              <a:rPr lang="en-US" sz="700" b="1" spc="1" kern="0" dirty="0">
                <a:solidFill>
                  <a:srgbClr val="2563EB"/>
                </a:solidFill>
                <a:latin typeface="Arial" pitchFamily="34" charset="0"/>
                <a:ea typeface="Arial" pitchFamily="34" charset="-122"/>
                <a:cs typeface="Arial" pitchFamily="34" charset="-120"/>
              </a:rPr>
              <a:t>MCAL SPECIALIST</a:t>
            </a:r>
            <a:endParaRPr lang="en-US" sz="700" dirty="0"/>
          </a:p>
        </p:txBody>
      </p:sp>
      <p:sp>
        <p:nvSpPr>
          <p:cNvPr id="15" name="Text 12"/>
          <p:cNvSpPr/>
          <p:nvPr/>
        </p:nvSpPr>
        <p:spPr>
          <a:xfrm>
            <a:off x="5072063" y="1976642"/>
            <a:ext cx="3357563" cy="171450"/>
          </a:xfrm>
          <a:prstGeom prst="rect">
            <a:avLst/>
          </a:prstGeom>
          <a:noFill/>
          <a:ln/>
        </p:spPr>
        <p:txBody>
          <a:bodyPr wrap="none" lIns="170053" tIns="0" rIns="0" bIns="0" rtlCol="0" anchor="t">
            <a:spAutoFit/>
          </a:bodyPr>
          <a:lstStyle/>
          <a:p>
            <a:pPr algn="l" indent="0" marL="0">
              <a:lnSpc>
                <a:spcPct val="128000"/>
              </a:lnSpc>
              <a:buNone/>
            </a:pPr>
            <a:r>
              <a:rPr lang="en-US" sz="800" dirty="0">
                <a:solidFill>
                  <a:srgbClr val="475569"/>
                </a:solidFill>
                <a:latin typeface="Arial" pitchFamily="34" charset="0"/>
                <a:ea typeface="Arial" pitchFamily="34" charset="-122"/>
                <a:cs typeface="Arial" pitchFamily="34" charset="-120"/>
              </a:rPr>
              <a:t>Digital I/O (Dio) driver implementation</a:t>
            </a:r>
            <a:endParaRPr lang="en-US" sz="800" dirty="0"/>
          </a:p>
        </p:txBody>
      </p:sp>
      <p:sp>
        <p:nvSpPr>
          <p:cNvPr id="16" name="Text 13"/>
          <p:cNvSpPr/>
          <p:nvPr/>
        </p:nvSpPr>
        <p:spPr>
          <a:xfrm>
            <a:off x="5072063" y="2205242"/>
            <a:ext cx="3357563" cy="171450"/>
          </a:xfrm>
          <a:prstGeom prst="rect">
            <a:avLst/>
          </a:prstGeom>
          <a:noFill/>
          <a:ln/>
        </p:spPr>
        <p:txBody>
          <a:bodyPr wrap="none" lIns="170053" tIns="0" rIns="0" bIns="0" rtlCol="0" anchor="t">
            <a:spAutoFit/>
          </a:bodyPr>
          <a:lstStyle/>
          <a:p>
            <a:pPr algn="l" indent="0" marL="0">
              <a:lnSpc>
                <a:spcPct val="128000"/>
              </a:lnSpc>
              <a:buNone/>
            </a:pPr>
            <a:r>
              <a:rPr lang="en-US" sz="800" dirty="0">
                <a:solidFill>
                  <a:srgbClr val="475569"/>
                </a:solidFill>
                <a:latin typeface="Arial" pitchFamily="34" charset="0"/>
                <a:ea typeface="Arial" pitchFamily="34" charset="-122"/>
                <a:cs typeface="Arial" pitchFamily="34" charset="-120"/>
              </a:rPr>
              <a:t>Analog-to-Digital Converter (Adc) module</a:t>
            </a:r>
            <a:endParaRPr lang="en-US" sz="800" dirty="0"/>
          </a:p>
        </p:txBody>
      </p:sp>
      <p:sp>
        <p:nvSpPr>
          <p:cNvPr id="17" name="Text 14"/>
          <p:cNvSpPr/>
          <p:nvPr/>
        </p:nvSpPr>
        <p:spPr>
          <a:xfrm>
            <a:off x="5072063" y="2433842"/>
            <a:ext cx="3357563" cy="171450"/>
          </a:xfrm>
          <a:prstGeom prst="rect">
            <a:avLst/>
          </a:prstGeom>
          <a:noFill/>
          <a:ln/>
        </p:spPr>
        <p:txBody>
          <a:bodyPr wrap="none" lIns="170053" tIns="0" rIns="0" bIns="0" rtlCol="0" anchor="t">
            <a:spAutoFit/>
          </a:bodyPr>
          <a:lstStyle/>
          <a:p>
            <a:pPr algn="l" indent="0" marL="0">
              <a:lnSpc>
                <a:spcPct val="128000"/>
              </a:lnSpc>
              <a:buNone/>
            </a:pPr>
            <a:r>
              <a:rPr lang="en-US" sz="800" dirty="0">
                <a:solidFill>
                  <a:srgbClr val="475569"/>
                </a:solidFill>
                <a:latin typeface="Arial" pitchFamily="34" charset="0"/>
                <a:ea typeface="Arial" pitchFamily="34" charset="-122"/>
                <a:cs typeface="Arial" pitchFamily="34" charset="-120"/>
              </a:rPr>
              <a:t>EEPROM data logging storage management</a:t>
            </a:r>
            <a:endParaRPr lang="en-US" sz="800" dirty="0"/>
          </a:p>
        </p:txBody>
      </p:sp>
      <p:sp>
        <p:nvSpPr>
          <p:cNvPr id="18" name="Text 15"/>
          <p:cNvSpPr/>
          <p:nvPr/>
        </p:nvSpPr>
        <p:spPr>
          <a:xfrm>
            <a:off x="5072063" y="1976642"/>
            <a:ext cx="37505" cy="171450"/>
          </a:xfrm>
          <a:prstGeom prst="rect">
            <a:avLst/>
          </a:prstGeom>
          <a:noFill/>
          <a:ln/>
        </p:spPr>
        <p:txBody>
          <a:bodyPr wrap="none" lIns="0" tIns="0" rIns="0" bIns="0" rtlCol="0" anchor="t">
            <a:spAutoFit/>
          </a:bodyPr>
          <a:lstStyle/>
          <a:p>
            <a:pPr algn="l" indent="0" marL="0">
              <a:lnSpc>
                <a:spcPct val="128000"/>
              </a:lnSpc>
              <a:buNone/>
            </a:pPr>
            <a:r>
              <a:rPr lang="en-US" sz="800" dirty="0">
                <a:solidFill>
                  <a:srgbClr val="2563EB"/>
                </a:solidFill>
                <a:latin typeface="Arial" pitchFamily="34" charset="0"/>
                <a:ea typeface="Arial" pitchFamily="34" charset="-122"/>
                <a:cs typeface="Arial" pitchFamily="34" charset="-120"/>
              </a:rPr>
              <a:t>•</a:t>
            </a:r>
            <a:endParaRPr lang="en-US" sz="800" dirty="0"/>
          </a:p>
        </p:txBody>
      </p:sp>
      <p:sp>
        <p:nvSpPr>
          <p:cNvPr id="19" name="Text 16"/>
          <p:cNvSpPr/>
          <p:nvPr/>
        </p:nvSpPr>
        <p:spPr>
          <a:xfrm>
            <a:off x="5072063" y="2205242"/>
            <a:ext cx="37505" cy="171450"/>
          </a:xfrm>
          <a:prstGeom prst="rect">
            <a:avLst/>
          </a:prstGeom>
          <a:noFill/>
          <a:ln/>
        </p:spPr>
        <p:txBody>
          <a:bodyPr wrap="none" lIns="0" tIns="0" rIns="0" bIns="0" rtlCol="0" anchor="t">
            <a:spAutoFit/>
          </a:bodyPr>
          <a:lstStyle/>
          <a:p>
            <a:pPr algn="l" indent="0" marL="0">
              <a:lnSpc>
                <a:spcPct val="128000"/>
              </a:lnSpc>
              <a:buNone/>
            </a:pPr>
            <a:r>
              <a:rPr lang="en-US" sz="800" dirty="0">
                <a:solidFill>
                  <a:srgbClr val="2563EB"/>
                </a:solidFill>
                <a:latin typeface="Arial" pitchFamily="34" charset="0"/>
                <a:ea typeface="Arial" pitchFamily="34" charset="-122"/>
                <a:cs typeface="Arial" pitchFamily="34" charset="-120"/>
              </a:rPr>
              <a:t>•</a:t>
            </a:r>
            <a:endParaRPr lang="en-US" sz="800" dirty="0"/>
          </a:p>
        </p:txBody>
      </p:sp>
      <p:sp>
        <p:nvSpPr>
          <p:cNvPr id="20" name="Text 17"/>
          <p:cNvSpPr/>
          <p:nvPr/>
        </p:nvSpPr>
        <p:spPr>
          <a:xfrm>
            <a:off x="5072063" y="2433842"/>
            <a:ext cx="37505" cy="171450"/>
          </a:xfrm>
          <a:prstGeom prst="rect">
            <a:avLst/>
          </a:prstGeom>
          <a:noFill/>
          <a:ln/>
        </p:spPr>
        <p:txBody>
          <a:bodyPr wrap="none" lIns="0" tIns="0" rIns="0" bIns="0" rtlCol="0" anchor="t">
            <a:spAutoFit/>
          </a:bodyPr>
          <a:lstStyle/>
          <a:p>
            <a:pPr algn="l" indent="0" marL="0">
              <a:lnSpc>
                <a:spcPct val="128000"/>
              </a:lnSpc>
              <a:buNone/>
            </a:pPr>
            <a:r>
              <a:rPr lang="en-US" sz="800" dirty="0">
                <a:solidFill>
                  <a:srgbClr val="2563EB"/>
                </a:solidFill>
                <a:latin typeface="Arial" pitchFamily="34" charset="0"/>
                <a:ea typeface="Arial" pitchFamily="34" charset="-122"/>
                <a:cs typeface="Arial" pitchFamily="34" charset="-120"/>
              </a:rPr>
              <a:t>•</a:t>
            </a:r>
            <a:endParaRPr lang="en-US" sz="800" dirty="0"/>
          </a:p>
        </p:txBody>
      </p:sp>
      <p:sp>
        <p:nvSpPr>
          <p:cNvPr id="21" name="Text 18"/>
          <p:cNvSpPr/>
          <p:nvPr/>
        </p:nvSpPr>
        <p:spPr>
          <a:xfrm>
            <a:off x="1285875" y="3098211"/>
            <a:ext cx="3357563" cy="196453"/>
          </a:xfrm>
          <a:prstGeom prst="rect">
            <a:avLst/>
          </a:prstGeom>
          <a:noFill/>
          <a:ln/>
        </p:spPr>
        <p:txBody>
          <a:bodyPr wrap="square" lIns="0" tIns="0" rIns="0" bIns="0" rtlCol="0" anchor="t">
            <a:spAutoFit/>
          </a:bodyPr>
          <a:lstStyle/>
          <a:p>
            <a:pPr algn="l" indent="0" marL="0">
              <a:buNone/>
            </a:pPr>
            <a:r>
              <a:rPr lang="en-US" sz="1250" dirty="0">
                <a:solidFill>
                  <a:srgbClr val="1E293B"/>
                </a:solidFill>
                <a:latin typeface="Georgia" pitchFamily="34" charset="0"/>
                <a:ea typeface="Georgia" pitchFamily="34" charset="-122"/>
                <a:cs typeface="Georgia" pitchFamily="34" charset="-120"/>
              </a:rPr>
              <a:t>Youssef mohamed ghait</a:t>
            </a:r>
            <a:endParaRPr lang="en-US" sz="1250" dirty="0"/>
          </a:p>
        </p:txBody>
      </p:sp>
      <p:sp>
        <p:nvSpPr>
          <p:cNvPr id="22" name="Text 19"/>
          <p:cNvSpPr/>
          <p:nvPr/>
        </p:nvSpPr>
        <p:spPr>
          <a:xfrm>
            <a:off x="1285875" y="3351814"/>
            <a:ext cx="3357563" cy="114300"/>
          </a:xfrm>
          <a:prstGeom prst="rect">
            <a:avLst/>
          </a:prstGeom>
          <a:noFill/>
          <a:ln/>
        </p:spPr>
        <p:txBody>
          <a:bodyPr wrap="square" lIns="0" tIns="0" rIns="0" bIns="0" rtlCol="0" anchor="t">
            <a:spAutoFit/>
          </a:bodyPr>
          <a:lstStyle/>
          <a:p>
            <a:pPr algn="l" indent="0" marL="0">
              <a:buNone/>
            </a:pPr>
            <a:r>
              <a:rPr lang="en-US" sz="700" b="1" spc="1" kern="0" dirty="0">
                <a:solidFill>
                  <a:srgbClr val="2563EB"/>
                </a:solidFill>
                <a:latin typeface="Arial" pitchFamily="34" charset="0"/>
                <a:ea typeface="Arial" pitchFamily="34" charset="-122"/>
                <a:cs typeface="Arial" pitchFamily="34" charset="-120"/>
              </a:rPr>
              <a:t>MCAL SPECIALIST</a:t>
            </a:r>
            <a:endParaRPr lang="en-US" sz="700" dirty="0"/>
          </a:p>
        </p:txBody>
      </p:sp>
      <p:sp>
        <p:nvSpPr>
          <p:cNvPr id="23" name="Text 20"/>
          <p:cNvSpPr/>
          <p:nvPr/>
        </p:nvSpPr>
        <p:spPr>
          <a:xfrm>
            <a:off x="1285875" y="3580414"/>
            <a:ext cx="3357563" cy="171450"/>
          </a:xfrm>
          <a:prstGeom prst="rect">
            <a:avLst/>
          </a:prstGeom>
          <a:noFill/>
          <a:ln/>
        </p:spPr>
        <p:txBody>
          <a:bodyPr wrap="none" lIns="170053" tIns="0" rIns="0" bIns="0" rtlCol="0" anchor="t">
            <a:spAutoFit/>
          </a:bodyPr>
          <a:lstStyle/>
          <a:p>
            <a:pPr algn="l" indent="0" marL="0">
              <a:lnSpc>
                <a:spcPct val="128000"/>
              </a:lnSpc>
              <a:buNone/>
            </a:pPr>
            <a:r>
              <a:rPr lang="en-US" sz="800" dirty="0">
                <a:solidFill>
                  <a:srgbClr val="475569"/>
                </a:solidFill>
                <a:latin typeface="Arial" pitchFamily="34" charset="0"/>
                <a:ea typeface="Arial" pitchFamily="34" charset="-122"/>
                <a:cs typeface="Arial" pitchFamily="34" charset="-120"/>
              </a:rPr>
              <a:t>UART serial communication for data dump</a:t>
            </a:r>
            <a:endParaRPr lang="en-US" sz="800" dirty="0"/>
          </a:p>
        </p:txBody>
      </p:sp>
      <p:sp>
        <p:nvSpPr>
          <p:cNvPr id="24" name="Text 21"/>
          <p:cNvSpPr/>
          <p:nvPr/>
        </p:nvSpPr>
        <p:spPr>
          <a:xfrm>
            <a:off x="1285875" y="3809014"/>
            <a:ext cx="3357563" cy="171450"/>
          </a:xfrm>
          <a:prstGeom prst="rect">
            <a:avLst/>
          </a:prstGeom>
          <a:noFill/>
          <a:ln/>
        </p:spPr>
        <p:txBody>
          <a:bodyPr wrap="none" lIns="170053" tIns="0" rIns="0" bIns="0" rtlCol="0" anchor="t">
            <a:spAutoFit/>
          </a:bodyPr>
          <a:lstStyle/>
          <a:p>
            <a:pPr algn="l" indent="0" marL="0">
              <a:lnSpc>
                <a:spcPct val="128000"/>
              </a:lnSpc>
              <a:buNone/>
            </a:pPr>
            <a:r>
              <a:rPr lang="en-US" sz="800" dirty="0">
                <a:solidFill>
                  <a:srgbClr val="475569"/>
                </a:solidFill>
                <a:latin typeface="Arial" pitchFamily="34" charset="0"/>
                <a:ea typeface="Arial" pitchFamily="34" charset="-122"/>
                <a:cs typeface="Arial" pitchFamily="34" charset="-120"/>
              </a:rPr>
              <a:t>Timer0 CTC 1ms system tick implementation</a:t>
            </a:r>
            <a:endParaRPr lang="en-US" sz="800" dirty="0"/>
          </a:p>
        </p:txBody>
      </p:sp>
      <p:sp>
        <p:nvSpPr>
          <p:cNvPr id="25" name="Text 22"/>
          <p:cNvSpPr/>
          <p:nvPr/>
        </p:nvSpPr>
        <p:spPr>
          <a:xfrm>
            <a:off x="1285875" y="4037614"/>
            <a:ext cx="3357563" cy="171450"/>
          </a:xfrm>
          <a:prstGeom prst="rect">
            <a:avLst/>
          </a:prstGeom>
          <a:noFill/>
          <a:ln/>
        </p:spPr>
        <p:txBody>
          <a:bodyPr wrap="none" lIns="170053" tIns="0" rIns="0" bIns="0" rtlCol="0" anchor="t">
            <a:spAutoFit/>
          </a:bodyPr>
          <a:lstStyle/>
          <a:p>
            <a:pPr algn="l" indent="0" marL="0">
              <a:lnSpc>
                <a:spcPct val="128000"/>
              </a:lnSpc>
              <a:buNone/>
            </a:pPr>
            <a:r>
              <a:rPr lang="en-US" sz="800" dirty="0">
                <a:solidFill>
                  <a:srgbClr val="475569"/>
                </a:solidFill>
                <a:latin typeface="Arial" pitchFamily="34" charset="0"/>
                <a:ea typeface="Arial" pitchFamily="34" charset="-122"/>
                <a:cs typeface="Arial" pitchFamily="34" charset="-120"/>
              </a:rPr>
              <a:t>External Interrupts (Exti) for system control</a:t>
            </a:r>
            <a:endParaRPr lang="en-US" sz="800" dirty="0"/>
          </a:p>
        </p:txBody>
      </p:sp>
      <p:sp>
        <p:nvSpPr>
          <p:cNvPr id="26" name="Text 23"/>
          <p:cNvSpPr/>
          <p:nvPr/>
        </p:nvSpPr>
        <p:spPr>
          <a:xfrm>
            <a:off x="1285875" y="3580414"/>
            <a:ext cx="37505" cy="171450"/>
          </a:xfrm>
          <a:prstGeom prst="rect">
            <a:avLst/>
          </a:prstGeom>
          <a:noFill/>
          <a:ln/>
        </p:spPr>
        <p:txBody>
          <a:bodyPr wrap="none" lIns="0" tIns="0" rIns="0" bIns="0" rtlCol="0" anchor="t">
            <a:spAutoFit/>
          </a:bodyPr>
          <a:lstStyle/>
          <a:p>
            <a:pPr algn="l" indent="0" marL="0">
              <a:lnSpc>
                <a:spcPct val="128000"/>
              </a:lnSpc>
              <a:buNone/>
            </a:pPr>
            <a:r>
              <a:rPr lang="en-US" sz="800" dirty="0">
                <a:solidFill>
                  <a:srgbClr val="2563EB"/>
                </a:solidFill>
                <a:latin typeface="Arial" pitchFamily="34" charset="0"/>
                <a:ea typeface="Arial" pitchFamily="34" charset="-122"/>
                <a:cs typeface="Arial" pitchFamily="34" charset="-120"/>
              </a:rPr>
              <a:t>•</a:t>
            </a:r>
            <a:endParaRPr lang="en-US" sz="800" dirty="0"/>
          </a:p>
        </p:txBody>
      </p:sp>
      <p:sp>
        <p:nvSpPr>
          <p:cNvPr id="27" name="Text 24"/>
          <p:cNvSpPr/>
          <p:nvPr/>
        </p:nvSpPr>
        <p:spPr>
          <a:xfrm>
            <a:off x="1285875" y="3809014"/>
            <a:ext cx="37505" cy="171450"/>
          </a:xfrm>
          <a:prstGeom prst="rect">
            <a:avLst/>
          </a:prstGeom>
          <a:noFill/>
          <a:ln/>
        </p:spPr>
        <p:txBody>
          <a:bodyPr wrap="none" lIns="0" tIns="0" rIns="0" bIns="0" rtlCol="0" anchor="t">
            <a:spAutoFit/>
          </a:bodyPr>
          <a:lstStyle/>
          <a:p>
            <a:pPr algn="l" indent="0" marL="0">
              <a:lnSpc>
                <a:spcPct val="128000"/>
              </a:lnSpc>
              <a:buNone/>
            </a:pPr>
            <a:r>
              <a:rPr lang="en-US" sz="800" dirty="0">
                <a:solidFill>
                  <a:srgbClr val="2563EB"/>
                </a:solidFill>
                <a:latin typeface="Arial" pitchFamily="34" charset="0"/>
                <a:ea typeface="Arial" pitchFamily="34" charset="-122"/>
                <a:cs typeface="Arial" pitchFamily="34" charset="-120"/>
              </a:rPr>
              <a:t>•</a:t>
            </a:r>
            <a:endParaRPr lang="en-US" sz="800" dirty="0"/>
          </a:p>
        </p:txBody>
      </p:sp>
      <p:sp>
        <p:nvSpPr>
          <p:cNvPr id="28" name="Text 25"/>
          <p:cNvSpPr/>
          <p:nvPr/>
        </p:nvSpPr>
        <p:spPr>
          <a:xfrm>
            <a:off x="1285875" y="4037614"/>
            <a:ext cx="37505" cy="171450"/>
          </a:xfrm>
          <a:prstGeom prst="rect">
            <a:avLst/>
          </a:prstGeom>
          <a:noFill/>
          <a:ln/>
        </p:spPr>
        <p:txBody>
          <a:bodyPr wrap="none" lIns="0" tIns="0" rIns="0" bIns="0" rtlCol="0" anchor="t">
            <a:spAutoFit/>
          </a:bodyPr>
          <a:lstStyle/>
          <a:p>
            <a:pPr algn="l" indent="0" marL="0">
              <a:lnSpc>
                <a:spcPct val="128000"/>
              </a:lnSpc>
              <a:buNone/>
            </a:pPr>
            <a:r>
              <a:rPr lang="en-US" sz="800" dirty="0">
                <a:solidFill>
                  <a:srgbClr val="2563EB"/>
                </a:solidFill>
                <a:latin typeface="Arial" pitchFamily="34" charset="0"/>
                <a:ea typeface="Arial" pitchFamily="34" charset="-122"/>
                <a:cs typeface="Arial" pitchFamily="34" charset="-120"/>
              </a:rPr>
              <a:t>•</a:t>
            </a:r>
            <a:endParaRPr lang="en-US" sz="800" dirty="0"/>
          </a:p>
        </p:txBody>
      </p:sp>
      <p:sp>
        <p:nvSpPr>
          <p:cNvPr id="29" name="Text 26"/>
          <p:cNvSpPr/>
          <p:nvPr/>
        </p:nvSpPr>
        <p:spPr>
          <a:xfrm>
            <a:off x="5072063" y="3098211"/>
            <a:ext cx="3357563" cy="196453"/>
          </a:xfrm>
          <a:prstGeom prst="rect">
            <a:avLst/>
          </a:prstGeom>
          <a:noFill/>
          <a:ln/>
        </p:spPr>
        <p:txBody>
          <a:bodyPr wrap="square" lIns="0" tIns="0" rIns="0" bIns="0" rtlCol="0" anchor="t">
            <a:spAutoFit/>
          </a:bodyPr>
          <a:lstStyle/>
          <a:p>
            <a:pPr algn="l" indent="0" marL="0">
              <a:buNone/>
            </a:pPr>
            <a:r>
              <a:rPr lang="en-US" sz="1250" dirty="0">
                <a:solidFill>
                  <a:srgbClr val="1E293B"/>
                </a:solidFill>
                <a:latin typeface="Georgia" pitchFamily="34" charset="0"/>
                <a:ea typeface="Georgia" pitchFamily="34" charset="-122"/>
                <a:cs typeface="Georgia" pitchFamily="34" charset="-120"/>
              </a:rPr>
              <a:t>Mohamed Raafat Hassan</a:t>
            </a:r>
            <a:endParaRPr lang="en-US" sz="1250" dirty="0"/>
          </a:p>
        </p:txBody>
      </p:sp>
      <p:sp>
        <p:nvSpPr>
          <p:cNvPr id="30" name="Text 27"/>
          <p:cNvSpPr/>
          <p:nvPr/>
        </p:nvSpPr>
        <p:spPr>
          <a:xfrm>
            <a:off x="5072063" y="3351814"/>
            <a:ext cx="3357563" cy="114300"/>
          </a:xfrm>
          <a:prstGeom prst="rect">
            <a:avLst/>
          </a:prstGeom>
          <a:noFill/>
          <a:ln/>
        </p:spPr>
        <p:txBody>
          <a:bodyPr wrap="square" lIns="0" tIns="0" rIns="0" bIns="0" rtlCol="0" anchor="t">
            <a:spAutoFit/>
          </a:bodyPr>
          <a:lstStyle/>
          <a:p>
            <a:pPr algn="l" indent="0" marL="0">
              <a:buNone/>
            </a:pPr>
            <a:r>
              <a:rPr lang="en-US" sz="700" b="1" spc="1" kern="0" dirty="0">
                <a:solidFill>
                  <a:srgbClr val="2563EB"/>
                </a:solidFill>
                <a:latin typeface="Arial" pitchFamily="34" charset="0"/>
                <a:ea typeface="Arial" pitchFamily="34" charset="-122"/>
                <a:cs typeface="Arial" pitchFamily="34" charset="-120"/>
              </a:rPr>
              <a:t>HAL &amp; DESIGN SPECIALIST</a:t>
            </a:r>
            <a:endParaRPr lang="en-US" sz="700" dirty="0"/>
          </a:p>
        </p:txBody>
      </p:sp>
      <p:sp>
        <p:nvSpPr>
          <p:cNvPr id="31" name="Text 28"/>
          <p:cNvSpPr/>
          <p:nvPr/>
        </p:nvSpPr>
        <p:spPr>
          <a:xfrm>
            <a:off x="5072063" y="3580414"/>
            <a:ext cx="3357563" cy="171450"/>
          </a:xfrm>
          <a:prstGeom prst="rect">
            <a:avLst/>
          </a:prstGeom>
          <a:noFill/>
          <a:ln/>
        </p:spPr>
        <p:txBody>
          <a:bodyPr wrap="none" lIns="170053" tIns="0" rIns="0" bIns="0" rtlCol="0" anchor="t">
            <a:spAutoFit/>
          </a:bodyPr>
          <a:lstStyle/>
          <a:p>
            <a:pPr algn="l" indent="0" marL="0">
              <a:lnSpc>
                <a:spcPct val="128000"/>
              </a:lnSpc>
              <a:buNone/>
            </a:pPr>
            <a:r>
              <a:rPr lang="en-US" sz="800" dirty="0">
                <a:solidFill>
                  <a:srgbClr val="475569"/>
                </a:solidFill>
                <a:latin typeface="Arial" pitchFamily="34" charset="0"/>
                <a:ea typeface="Arial" pitchFamily="34" charset="-122"/>
                <a:cs typeface="Arial" pitchFamily="34" charset="-120"/>
              </a:rPr>
              <a:t>LCD, LM35, LDR, and Buzzer HAL drivers</a:t>
            </a:r>
            <a:endParaRPr lang="en-US" sz="800" dirty="0"/>
          </a:p>
        </p:txBody>
      </p:sp>
      <p:sp>
        <p:nvSpPr>
          <p:cNvPr id="32" name="Text 29"/>
          <p:cNvSpPr/>
          <p:nvPr/>
        </p:nvSpPr>
        <p:spPr>
          <a:xfrm>
            <a:off x="5072063" y="3809014"/>
            <a:ext cx="3357563" cy="171450"/>
          </a:xfrm>
          <a:prstGeom prst="rect">
            <a:avLst/>
          </a:prstGeom>
          <a:noFill/>
          <a:ln/>
        </p:spPr>
        <p:txBody>
          <a:bodyPr wrap="none" lIns="170053" tIns="0" rIns="0" bIns="0" rtlCol="0" anchor="t">
            <a:spAutoFit/>
          </a:bodyPr>
          <a:lstStyle/>
          <a:p>
            <a:pPr algn="l" indent="0" marL="0">
              <a:lnSpc>
                <a:spcPct val="128000"/>
              </a:lnSpc>
              <a:buNone/>
            </a:pPr>
            <a:r>
              <a:rPr lang="en-US" sz="800" dirty="0">
                <a:solidFill>
                  <a:srgbClr val="475569"/>
                </a:solidFill>
                <a:latin typeface="Arial" pitchFamily="34" charset="0"/>
                <a:ea typeface="Arial" pitchFamily="34" charset="-122"/>
                <a:cs typeface="Arial" pitchFamily="34" charset="-120"/>
              </a:rPr>
              <a:t>Proteus hardware design and simulation</a:t>
            </a:r>
            <a:endParaRPr lang="en-US" sz="800" dirty="0"/>
          </a:p>
        </p:txBody>
      </p:sp>
      <p:sp>
        <p:nvSpPr>
          <p:cNvPr id="33" name="Text 30"/>
          <p:cNvSpPr/>
          <p:nvPr/>
        </p:nvSpPr>
        <p:spPr>
          <a:xfrm>
            <a:off x="5072063" y="4037614"/>
            <a:ext cx="3357563" cy="171450"/>
          </a:xfrm>
          <a:prstGeom prst="rect">
            <a:avLst/>
          </a:prstGeom>
          <a:noFill/>
          <a:ln/>
        </p:spPr>
        <p:txBody>
          <a:bodyPr wrap="none" lIns="170053" tIns="0" rIns="0" bIns="0" rtlCol="0" anchor="t">
            <a:spAutoFit/>
          </a:bodyPr>
          <a:lstStyle/>
          <a:p>
            <a:pPr algn="l" indent="0" marL="0">
              <a:lnSpc>
                <a:spcPct val="128000"/>
              </a:lnSpc>
              <a:buNone/>
            </a:pPr>
            <a:r>
              <a:rPr lang="en-US" sz="800" dirty="0">
                <a:solidFill>
                  <a:srgbClr val="475569"/>
                </a:solidFill>
                <a:latin typeface="Arial" pitchFamily="34" charset="0"/>
                <a:ea typeface="Arial" pitchFamily="34" charset="-122"/>
                <a:cs typeface="Arial" pitchFamily="34" charset="-120"/>
              </a:rPr>
              <a:t>System wiring and interface validation</a:t>
            </a:r>
            <a:endParaRPr lang="en-US" sz="800" dirty="0"/>
          </a:p>
        </p:txBody>
      </p:sp>
      <p:sp>
        <p:nvSpPr>
          <p:cNvPr id="34" name="Text 31"/>
          <p:cNvSpPr/>
          <p:nvPr/>
        </p:nvSpPr>
        <p:spPr>
          <a:xfrm>
            <a:off x="6091331" y="4604147"/>
            <a:ext cx="2481169" cy="110728"/>
          </a:xfrm>
          <a:prstGeom prst="rect">
            <a:avLst/>
          </a:prstGeom>
          <a:noFill/>
          <a:ln/>
        </p:spPr>
        <p:txBody>
          <a:bodyPr wrap="square" lIns="0" tIns="0" rIns="0" bIns="0" rtlCol="0" anchor="t">
            <a:spAutoFit/>
          </a:bodyPr>
          <a:lstStyle/>
          <a:p>
            <a:pPr algn="l" indent="0" marL="0">
              <a:buNone/>
            </a:pPr>
            <a:r>
              <a:rPr lang="en-US" sz="650" spc="2" kern="0" dirty="0">
                <a:solidFill>
                  <a:srgbClr val="94A3B8"/>
                </a:solidFill>
                <a:latin typeface="Arial" pitchFamily="34" charset="0"/>
                <a:ea typeface="Arial" pitchFamily="34" charset="-122"/>
                <a:cs typeface="Arial" pitchFamily="34" charset="-120"/>
              </a:rPr>
              <a:t>COLLABORATIVE EMBEDDED ENGINEERING</a:t>
            </a:r>
            <a:endParaRPr lang="en-US" sz="650" dirty="0"/>
          </a:p>
        </p:txBody>
      </p:sp>
      <p:sp>
        <p:nvSpPr>
          <p:cNvPr id="35" name="Text 32"/>
          <p:cNvSpPr/>
          <p:nvPr/>
        </p:nvSpPr>
        <p:spPr>
          <a:xfrm>
            <a:off x="5072063" y="3580414"/>
            <a:ext cx="37505" cy="171450"/>
          </a:xfrm>
          <a:prstGeom prst="rect">
            <a:avLst/>
          </a:prstGeom>
          <a:noFill/>
          <a:ln/>
        </p:spPr>
        <p:txBody>
          <a:bodyPr wrap="none" lIns="0" tIns="0" rIns="0" bIns="0" rtlCol="0" anchor="t">
            <a:spAutoFit/>
          </a:bodyPr>
          <a:lstStyle/>
          <a:p>
            <a:pPr algn="l" indent="0" marL="0">
              <a:lnSpc>
                <a:spcPct val="128000"/>
              </a:lnSpc>
              <a:buNone/>
            </a:pPr>
            <a:r>
              <a:rPr lang="en-US" sz="800" dirty="0">
                <a:solidFill>
                  <a:srgbClr val="2563EB"/>
                </a:solidFill>
                <a:latin typeface="Arial" pitchFamily="34" charset="0"/>
                <a:ea typeface="Arial" pitchFamily="34" charset="-122"/>
                <a:cs typeface="Arial" pitchFamily="34" charset="-120"/>
              </a:rPr>
              <a:t>•</a:t>
            </a:r>
            <a:endParaRPr lang="en-US" sz="800" dirty="0"/>
          </a:p>
        </p:txBody>
      </p:sp>
      <p:sp>
        <p:nvSpPr>
          <p:cNvPr id="36" name="Text 33"/>
          <p:cNvSpPr/>
          <p:nvPr/>
        </p:nvSpPr>
        <p:spPr>
          <a:xfrm>
            <a:off x="5072063" y="3809014"/>
            <a:ext cx="37505" cy="171450"/>
          </a:xfrm>
          <a:prstGeom prst="rect">
            <a:avLst/>
          </a:prstGeom>
          <a:noFill/>
          <a:ln/>
        </p:spPr>
        <p:txBody>
          <a:bodyPr wrap="none" lIns="0" tIns="0" rIns="0" bIns="0" rtlCol="0" anchor="t">
            <a:spAutoFit/>
          </a:bodyPr>
          <a:lstStyle/>
          <a:p>
            <a:pPr algn="l" indent="0" marL="0">
              <a:lnSpc>
                <a:spcPct val="128000"/>
              </a:lnSpc>
              <a:buNone/>
            </a:pPr>
            <a:r>
              <a:rPr lang="en-US" sz="800" dirty="0">
                <a:solidFill>
                  <a:srgbClr val="2563EB"/>
                </a:solidFill>
                <a:latin typeface="Arial" pitchFamily="34" charset="0"/>
                <a:ea typeface="Arial" pitchFamily="34" charset="-122"/>
                <a:cs typeface="Arial" pitchFamily="34" charset="-120"/>
              </a:rPr>
              <a:t>•</a:t>
            </a:r>
            <a:endParaRPr lang="en-US" sz="800" dirty="0"/>
          </a:p>
        </p:txBody>
      </p:sp>
      <p:sp>
        <p:nvSpPr>
          <p:cNvPr id="37" name="Text 34"/>
          <p:cNvSpPr/>
          <p:nvPr/>
        </p:nvSpPr>
        <p:spPr>
          <a:xfrm>
            <a:off x="5072063" y="4037614"/>
            <a:ext cx="37505" cy="171450"/>
          </a:xfrm>
          <a:prstGeom prst="rect">
            <a:avLst/>
          </a:prstGeom>
          <a:noFill/>
          <a:ln/>
        </p:spPr>
        <p:txBody>
          <a:bodyPr wrap="none" lIns="0" tIns="0" rIns="0" bIns="0" rtlCol="0" anchor="t">
            <a:spAutoFit/>
          </a:bodyPr>
          <a:lstStyle/>
          <a:p>
            <a:pPr algn="l" indent="0" marL="0">
              <a:lnSpc>
                <a:spcPct val="128000"/>
              </a:lnSpc>
              <a:buNone/>
            </a:pPr>
            <a:r>
              <a:rPr lang="en-US" sz="800" dirty="0">
                <a:solidFill>
                  <a:srgbClr val="2563EB"/>
                </a:solidFill>
                <a:latin typeface="Arial" pitchFamily="34" charset="0"/>
                <a:ea typeface="Arial" pitchFamily="34" charset="-122"/>
                <a:cs typeface="Arial" pitchFamily="34" charset="-120"/>
              </a:rPr>
              <a:t>•</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2026-08-31T13:22:53Z</dcterms:created>
  <dcterms:modified xsi:type="dcterms:W3CDTF">2026-08-31T13:22:53Z</dcterms:modified>
</cp:coreProperties>
</file>